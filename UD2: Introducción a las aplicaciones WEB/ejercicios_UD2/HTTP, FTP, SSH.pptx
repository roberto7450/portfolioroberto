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DM Sans Bold" charset="1" panose="00000000000000000000"/>
      <p:regular r:id="rId22"/>
    </p:embeddedFont>
    <p:embeddedFont>
      <p:font typeface="DM Sans" charset="1" panose="00000000000000000000"/>
      <p:regular r:id="rId23"/>
    </p:embeddedFont>
    <p:embeddedFont>
      <p:font typeface="Poppins Bold" charset="1" panose="000008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1691" y="2719896"/>
            <a:ext cx="4164874" cy="6227544"/>
            <a:chOff x="0" y="0"/>
            <a:chExt cx="879352" cy="1314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352" cy="1314854"/>
            </a:xfrm>
            <a:custGeom>
              <a:avLst/>
              <a:gdLst/>
              <a:ahLst/>
              <a:cxnLst/>
              <a:rect r="r" b="b" t="t" l="l"/>
              <a:pathLst>
                <a:path h="1314854" w="879352">
                  <a:moveTo>
                    <a:pt x="42754" y="0"/>
                  </a:moveTo>
                  <a:lnTo>
                    <a:pt x="836598" y="0"/>
                  </a:lnTo>
                  <a:cubicBezTo>
                    <a:pt x="860210" y="0"/>
                    <a:pt x="879352" y="19142"/>
                    <a:pt x="879352" y="42754"/>
                  </a:cubicBezTo>
                  <a:lnTo>
                    <a:pt x="879352" y="1272100"/>
                  </a:lnTo>
                  <a:cubicBezTo>
                    <a:pt x="879352" y="1283439"/>
                    <a:pt x="874847" y="1294314"/>
                    <a:pt x="866829" y="1302332"/>
                  </a:cubicBezTo>
                  <a:cubicBezTo>
                    <a:pt x="858811" y="1310349"/>
                    <a:pt x="847937" y="1314854"/>
                    <a:pt x="836598" y="1314854"/>
                  </a:cubicBezTo>
                  <a:lnTo>
                    <a:pt x="42754" y="1314854"/>
                  </a:lnTo>
                  <a:cubicBezTo>
                    <a:pt x="19142" y="1314854"/>
                    <a:pt x="0" y="1295712"/>
                    <a:pt x="0" y="1272100"/>
                  </a:cubicBezTo>
                  <a:lnTo>
                    <a:pt x="0" y="42754"/>
                  </a:lnTo>
                  <a:cubicBezTo>
                    <a:pt x="0" y="19142"/>
                    <a:pt x="19142" y="0"/>
                    <a:pt x="42754" y="0"/>
                  </a:cubicBezTo>
                  <a:close/>
                </a:path>
              </a:pathLst>
            </a:custGeom>
            <a:blipFill>
              <a:blip r:embed="rId3"/>
              <a:stretch>
                <a:fillRect l="-91" t="0" r="-9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4492" y="2228949"/>
            <a:ext cx="3061346" cy="4200334"/>
            <a:chOff x="0" y="0"/>
            <a:chExt cx="646358" cy="8868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6358" cy="886839"/>
            </a:xfrm>
            <a:custGeom>
              <a:avLst/>
              <a:gdLst/>
              <a:ahLst/>
              <a:cxnLst/>
              <a:rect r="r" b="b" t="t" l="l"/>
              <a:pathLst>
                <a:path h="886839" w="646358">
                  <a:moveTo>
                    <a:pt x="58165" y="0"/>
                  </a:moveTo>
                  <a:lnTo>
                    <a:pt x="588193" y="0"/>
                  </a:lnTo>
                  <a:cubicBezTo>
                    <a:pt x="603619" y="0"/>
                    <a:pt x="618414" y="6128"/>
                    <a:pt x="629322" y="17036"/>
                  </a:cubicBezTo>
                  <a:cubicBezTo>
                    <a:pt x="640230" y="27944"/>
                    <a:pt x="646358" y="42739"/>
                    <a:pt x="646358" y="58165"/>
                  </a:cubicBezTo>
                  <a:lnTo>
                    <a:pt x="646358" y="828673"/>
                  </a:lnTo>
                  <a:cubicBezTo>
                    <a:pt x="646358" y="844100"/>
                    <a:pt x="640230" y="858894"/>
                    <a:pt x="629322" y="869802"/>
                  </a:cubicBezTo>
                  <a:cubicBezTo>
                    <a:pt x="618414" y="880710"/>
                    <a:pt x="603619" y="886839"/>
                    <a:pt x="588193" y="886839"/>
                  </a:cubicBezTo>
                  <a:lnTo>
                    <a:pt x="58165" y="886839"/>
                  </a:lnTo>
                  <a:cubicBezTo>
                    <a:pt x="42739" y="886839"/>
                    <a:pt x="27944" y="880710"/>
                    <a:pt x="17036" y="869802"/>
                  </a:cubicBezTo>
                  <a:cubicBezTo>
                    <a:pt x="6128" y="858894"/>
                    <a:pt x="0" y="844100"/>
                    <a:pt x="0" y="828673"/>
                  </a:cubicBezTo>
                  <a:lnTo>
                    <a:pt x="0" y="58165"/>
                  </a:lnTo>
                  <a:cubicBezTo>
                    <a:pt x="0" y="42739"/>
                    <a:pt x="6128" y="27944"/>
                    <a:pt x="17036" y="17036"/>
                  </a:cubicBezTo>
                  <a:cubicBezTo>
                    <a:pt x="27944" y="6128"/>
                    <a:pt x="42739" y="0"/>
                    <a:pt x="58165" y="0"/>
                  </a:cubicBezTo>
                  <a:close/>
                </a:path>
              </a:pathLst>
            </a:custGeom>
            <a:blipFill>
              <a:blip r:embed="rId4"/>
              <a:stretch>
                <a:fillRect l="-251" t="0" r="-25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073307" y="1994389"/>
            <a:ext cx="2213550" cy="221355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81225" y="7339539"/>
            <a:ext cx="2213550" cy="22135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11782" y="1822595"/>
            <a:ext cx="812708" cy="8127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69484" y="8719112"/>
            <a:ext cx="833977" cy="8339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4116" y="683179"/>
            <a:ext cx="16859767" cy="691042"/>
            <a:chOff x="0" y="0"/>
            <a:chExt cx="4440433" cy="1820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0432" cy="182003"/>
            </a:xfrm>
            <a:custGeom>
              <a:avLst/>
              <a:gdLst/>
              <a:ahLst/>
              <a:cxnLst/>
              <a:rect r="r" b="b" t="t" l="l"/>
              <a:pathLst>
                <a:path h="182003" w="4440432">
                  <a:moveTo>
                    <a:pt x="23419" y="0"/>
                  </a:moveTo>
                  <a:lnTo>
                    <a:pt x="4417013" y="0"/>
                  </a:lnTo>
                  <a:cubicBezTo>
                    <a:pt x="4429947" y="0"/>
                    <a:pt x="4440432" y="10485"/>
                    <a:pt x="4440432" y="23419"/>
                  </a:cubicBezTo>
                  <a:lnTo>
                    <a:pt x="4440432" y="158584"/>
                  </a:lnTo>
                  <a:cubicBezTo>
                    <a:pt x="4440432" y="171518"/>
                    <a:pt x="4429947" y="182003"/>
                    <a:pt x="4417013" y="182003"/>
                  </a:cubicBezTo>
                  <a:lnTo>
                    <a:pt x="23419" y="182003"/>
                  </a:lnTo>
                  <a:cubicBezTo>
                    <a:pt x="10485" y="182003"/>
                    <a:pt x="0" y="171518"/>
                    <a:pt x="0" y="158584"/>
                  </a:cubicBezTo>
                  <a:lnTo>
                    <a:pt x="0" y="23419"/>
                  </a:lnTo>
                  <a:cubicBezTo>
                    <a:pt x="0" y="10485"/>
                    <a:pt x="10485" y="0"/>
                    <a:pt x="23419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440433" cy="239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01574" y="8177018"/>
            <a:ext cx="1540845" cy="154084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54931" y="8028070"/>
            <a:ext cx="3033803" cy="691042"/>
            <a:chOff x="0" y="0"/>
            <a:chExt cx="799026" cy="1820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9026" cy="182003"/>
            </a:xfrm>
            <a:custGeom>
              <a:avLst/>
              <a:gdLst/>
              <a:ahLst/>
              <a:cxnLst/>
              <a:rect r="r" b="b" t="t" l="l"/>
              <a:pathLst>
                <a:path h="182003" w="799026">
                  <a:moveTo>
                    <a:pt x="91001" y="0"/>
                  </a:moveTo>
                  <a:lnTo>
                    <a:pt x="708025" y="0"/>
                  </a:lnTo>
                  <a:cubicBezTo>
                    <a:pt x="732160" y="0"/>
                    <a:pt x="755307" y="9588"/>
                    <a:pt x="772373" y="26654"/>
                  </a:cubicBezTo>
                  <a:cubicBezTo>
                    <a:pt x="789439" y="43720"/>
                    <a:pt x="799026" y="66866"/>
                    <a:pt x="799026" y="91001"/>
                  </a:cubicBezTo>
                  <a:lnTo>
                    <a:pt x="799026" y="91001"/>
                  </a:lnTo>
                  <a:cubicBezTo>
                    <a:pt x="799026" y="115136"/>
                    <a:pt x="789439" y="138283"/>
                    <a:pt x="772373" y="155349"/>
                  </a:cubicBezTo>
                  <a:cubicBezTo>
                    <a:pt x="755307" y="172415"/>
                    <a:pt x="732160" y="182003"/>
                    <a:pt x="708025" y="182003"/>
                  </a:cubicBezTo>
                  <a:lnTo>
                    <a:pt x="91001" y="182003"/>
                  </a:lnTo>
                  <a:cubicBezTo>
                    <a:pt x="66866" y="182003"/>
                    <a:pt x="43720" y="172415"/>
                    <a:pt x="26654" y="155349"/>
                  </a:cubicBezTo>
                  <a:cubicBezTo>
                    <a:pt x="9588" y="138283"/>
                    <a:pt x="0" y="115136"/>
                    <a:pt x="0" y="91001"/>
                  </a:cubicBezTo>
                  <a:lnTo>
                    <a:pt x="0" y="91001"/>
                  </a:lnTo>
                  <a:cubicBezTo>
                    <a:pt x="0" y="66866"/>
                    <a:pt x="9588" y="43720"/>
                    <a:pt x="26654" y="26654"/>
                  </a:cubicBezTo>
                  <a:cubicBezTo>
                    <a:pt x="43720" y="9588"/>
                    <a:pt x="66866" y="0"/>
                    <a:pt x="91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799026" cy="239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974068" y="8184678"/>
            <a:ext cx="2929473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Ver Presentación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903541" y="8028070"/>
            <a:ext cx="1916038" cy="691042"/>
            <a:chOff x="0" y="0"/>
            <a:chExt cx="504635" cy="1820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4635" cy="182003"/>
            </a:xfrm>
            <a:custGeom>
              <a:avLst/>
              <a:gdLst/>
              <a:ahLst/>
              <a:cxnLst/>
              <a:rect r="r" b="b" t="t" l="l"/>
              <a:pathLst>
                <a:path h="182003" w="504635">
                  <a:moveTo>
                    <a:pt x="91001" y="0"/>
                  </a:moveTo>
                  <a:lnTo>
                    <a:pt x="413634" y="0"/>
                  </a:lnTo>
                  <a:cubicBezTo>
                    <a:pt x="437769" y="0"/>
                    <a:pt x="460916" y="9588"/>
                    <a:pt x="477982" y="26654"/>
                  </a:cubicBezTo>
                  <a:cubicBezTo>
                    <a:pt x="495048" y="43720"/>
                    <a:pt x="504635" y="66866"/>
                    <a:pt x="504635" y="91001"/>
                  </a:cubicBezTo>
                  <a:lnTo>
                    <a:pt x="504635" y="91001"/>
                  </a:lnTo>
                  <a:cubicBezTo>
                    <a:pt x="504635" y="115136"/>
                    <a:pt x="495048" y="138283"/>
                    <a:pt x="477982" y="155349"/>
                  </a:cubicBezTo>
                  <a:cubicBezTo>
                    <a:pt x="460916" y="172415"/>
                    <a:pt x="437769" y="182003"/>
                    <a:pt x="413634" y="182003"/>
                  </a:cubicBezTo>
                  <a:lnTo>
                    <a:pt x="91001" y="182003"/>
                  </a:lnTo>
                  <a:cubicBezTo>
                    <a:pt x="66866" y="182003"/>
                    <a:pt x="43720" y="172415"/>
                    <a:pt x="26654" y="155349"/>
                  </a:cubicBezTo>
                  <a:cubicBezTo>
                    <a:pt x="9588" y="138283"/>
                    <a:pt x="0" y="115136"/>
                    <a:pt x="0" y="91001"/>
                  </a:cubicBezTo>
                  <a:lnTo>
                    <a:pt x="0" y="91001"/>
                  </a:lnTo>
                  <a:cubicBezTo>
                    <a:pt x="0" y="66866"/>
                    <a:pt x="9588" y="43720"/>
                    <a:pt x="26654" y="26654"/>
                  </a:cubicBezTo>
                  <a:cubicBezTo>
                    <a:pt x="43720" y="9588"/>
                    <a:pt x="66866" y="0"/>
                    <a:pt x="91001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4635" cy="239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360741" y="8373591"/>
            <a:ext cx="108646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3" id="33"/>
          <p:cNvSpPr txBox="true"/>
          <p:nvPr/>
        </p:nvSpPr>
        <p:spPr>
          <a:xfrm rot="0">
            <a:off x="7441548" y="3996842"/>
            <a:ext cx="9278557" cy="16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10"/>
              </a:lnSpc>
              <a:spcBef>
                <a:spcPct val="0"/>
              </a:spcBef>
            </a:pPr>
            <a:r>
              <a:rPr lang="en-US" b="true" sz="96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Protocolo HTTP,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41548" y="5837885"/>
            <a:ext cx="9836460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9"/>
              </a:lnSpc>
              <a:spcBef>
                <a:spcPct val="0"/>
              </a:spcBef>
            </a:pPr>
            <a:r>
              <a:rPr lang="en-US" b="true" sz="9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FTP y SSH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59778" y="793750"/>
            <a:ext cx="5428044" cy="42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Roberto Martín y Aarón Fuentes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0243" y="839788"/>
            <a:ext cx="4575607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DESPLIEGUE  DE APLICACIONES WEB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98247" y="1959276"/>
            <a:ext cx="6192114" cy="7299024"/>
            <a:chOff x="0" y="0"/>
            <a:chExt cx="1630845" cy="19223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0845" cy="1922377"/>
            </a:xfrm>
            <a:custGeom>
              <a:avLst/>
              <a:gdLst/>
              <a:ahLst/>
              <a:cxnLst/>
              <a:rect r="r" b="b" t="t" l="l"/>
              <a:pathLst>
                <a:path h="1922377" w="1630845">
                  <a:moveTo>
                    <a:pt x="63765" y="0"/>
                  </a:moveTo>
                  <a:lnTo>
                    <a:pt x="1567080" y="0"/>
                  </a:lnTo>
                  <a:cubicBezTo>
                    <a:pt x="1583991" y="0"/>
                    <a:pt x="1600210" y="6718"/>
                    <a:pt x="1612168" y="18676"/>
                  </a:cubicBezTo>
                  <a:cubicBezTo>
                    <a:pt x="1624127" y="30634"/>
                    <a:pt x="1630845" y="46853"/>
                    <a:pt x="1630845" y="63765"/>
                  </a:cubicBezTo>
                  <a:lnTo>
                    <a:pt x="1630845" y="1858612"/>
                  </a:lnTo>
                  <a:cubicBezTo>
                    <a:pt x="1630845" y="1875524"/>
                    <a:pt x="1624127" y="1891742"/>
                    <a:pt x="1612168" y="1903701"/>
                  </a:cubicBezTo>
                  <a:cubicBezTo>
                    <a:pt x="1600210" y="1915659"/>
                    <a:pt x="1583991" y="1922377"/>
                    <a:pt x="1567080" y="1922377"/>
                  </a:cubicBezTo>
                  <a:lnTo>
                    <a:pt x="63765" y="1922377"/>
                  </a:lnTo>
                  <a:cubicBezTo>
                    <a:pt x="28548" y="1922377"/>
                    <a:pt x="0" y="1893828"/>
                    <a:pt x="0" y="1858612"/>
                  </a:cubicBezTo>
                  <a:lnTo>
                    <a:pt x="0" y="63765"/>
                  </a:lnTo>
                  <a:cubicBezTo>
                    <a:pt x="0" y="28548"/>
                    <a:pt x="28548" y="0"/>
                    <a:pt x="637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30845" cy="19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94378" y="2499617"/>
            <a:ext cx="653191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b="true" sz="7994">
                <a:gradFill>
                  <a:gsLst>
                    <a:gs pos="0">
                      <a:srgbClr val="5463F6">
                        <a:alpha val="100000"/>
                      </a:srgbClr>
                    </a:gs>
                    <a:gs pos="100000">
                      <a:srgbClr val="E83AA2">
                        <a:alpha val="100000"/>
                      </a:srgbClr>
                    </a:gs>
                  </a:gsLst>
                  <a:lin ang="0"/>
                </a:gradFill>
                <a:latin typeface="DM Sans Bold"/>
                <a:ea typeface="DM Sans Bold"/>
                <a:cs typeface="DM Sans Bold"/>
                <a:sym typeface="DM Sans Bold"/>
              </a:rPr>
              <a:t>ÍNDICE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4378" y="4460844"/>
            <a:ext cx="6531915" cy="174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2"/>
              </a:lnSpc>
            </a:pP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HTTP</a:t>
            </a:r>
          </a:p>
          <a:p>
            <a:pPr algn="l" marL="0" indent="0" lvl="0">
              <a:lnSpc>
                <a:spcPts val="701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94378" y="3709292"/>
            <a:ext cx="3265957" cy="78970"/>
            <a:chOff x="0" y="0"/>
            <a:chExt cx="860170" cy="20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0170" cy="20799"/>
            </a:xfrm>
            <a:custGeom>
              <a:avLst/>
              <a:gdLst/>
              <a:ahLst/>
              <a:cxnLst/>
              <a:rect r="r" b="b" t="t" l="l"/>
              <a:pathLst>
                <a:path h="20799" w="860170">
                  <a:moveTo>
                    <a:pt x="10399" y="0"/>
                  </a:moveTo>
                  <a:lnTo>
                    <a:pt x="849770" y="0"/>
                  </a:lnTo>
                  <a:cubicBezTo>
                    <a:pt x="855514" y="0"/>
                    <a:pt x="860170" y="4656"/>
                    <a:pt x="860170" y="10399"/>
                  </a:cubicBezTo>
                  <a:lnTo>
                    <a:pt x="860170" y="10399"/>
                  </a:lnTo>
                  <a:cubicBezTo>
                    <a:pt x="860170" y="16143"/>
                    <a:pt x="855514" y="20799"/>
                    <a:pt x="849770" y="20799"/>
                  </a:cubicBezTo>
                  <a:lnTo>
                    <a:pt x="10399" y="20799"/>
                  </a:lnTo>
                  <a:cubicBezTo>
                    <a:pt x="4656" y="20799"/>
                    <a:pt x="0" y="16143"/>
                    <a:pt x="0" y="10399"/>
                  </a:cubicBezTo>
                  <a:lnTo>
                    <a:pt x="0" y="10399"/>
                  </a:lnTo>
                  <a:cubicBezTo>
                    <a:pt x="0" y="4656"/>
                    <a:pt x="4656" y="0"/>
                    <a:pt x="103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60170" cy="7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94985" y="2941964"/>
            <a:ext cx="7398637" cy="5333648"/>
            <a:chOff x="0" y="0"/>
            <a:chExt cx="1562113" cy="112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2113" cy="1126121"/>
            </a:xfrm>
            <a:custGeom>
              <a:avLst/>
              <a:gdLst/>
              <a:ahLst/>
              <a:cxnLst/>
              <a:rect r="r" b="b" t="t" l="l"/>
              <a:pathLst>
                <a:path h="1126121" w="1562113">
                  <a:moveTo>
                    <a:pt x="52320" y="0"/>
                  </a:moveTo>
                  <a:lnTo>
                    <a:pt x="1509793" y="0"/>
                  </a:lnTo>
                  <a:cubicBezTo>
                    <a:pt x="1538688" y="0"/>
                    <a:pt x="1562113" y="23424"/>
                    <a:pt x="1562113" y="52320"/>
                  </a:cubicBezTo>
                  <a:lnTo>
                    <a:pt x="1562113" y="1073801"/>
                  </a:lnTo>
                  <a:cubicBezTo>
                    <a:pt x="1562113" y="1102697"/>
                    <a:pt x="1538688" y="1126121"/>
                    <a:pt x="1509793" y="1126121"/>
                  </a:cubicBezTo>
                  <a:lnTo>
                    <a:pt x="52320" y="1126121"/>
                  </a:lnTo>
                  <a:cubicBezTo>
                    <a:pt x="23424" y="1126121"/>
                    <a:pt x="0" y="1102697"/>
                    <a:pt x="0" y="1073801"/>
                  </a:cubicBezTo>
                  <a:lnTo>
                    <a:pt x="0" y="52320"/>
                  </a:lnTo>
                  <a:cubicBezTo>
                    <a:pt x="0" y="23424"/>
                    <a:pt x="23424" y="0"/>
                    <a:pt x="523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1" r="0" b="-11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181225" y="8308795"/>
            <a:ext cx="2213550" cy="22135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69484" y="9688368"/>
            <a:ext cx="833977" cy="8339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78136" y="2602517"/>
            <a:ext cx="2213550" cy="221355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7978136" y="4981479"/>
            <a:ext cx="812708" cy="81270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94378" y="5851337"/>
            <a:ext cx="6531915" cy="174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2"/>
              </a:lnSpc>
            </a:pP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FTP</a:t>
            </a:r>
          </a:p>
          <a:p>
            <a:pPr algn="l" marL="0" indent="0" lvl="0">
              <a:lnSpc>
                <a:spcPts val="701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94378" y="7348623"/>
            <a:ext cx="6531915" cy="174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2"/>
              </a:lnSpc>
            </a:pP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r>
              <a:rPr lang="en-US" sz="500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SSH</a:t>
            </a:r>
          </a:p>
          <a:p>
            <a:pPr algn="l" marL="0" indent="0" lvl="0">
              <a:lnSpc>
                <a:spcPts val="701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1C6B">
                <a:alpha val="100000"/>
              </a:srgbClr>
            </a:gs>
            <a:gs pos="100000">
              <a:srgbClr val="07033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2890" y="6938244"/>
            <a:ext cx="3027020" cy="2320056"/>
            <a:chOff x="0" y="0"/>
            <a:chExt cx="797240" cy="611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7240" cy="611043"/>
            </a:xfrm>
            <a:custGeom>
              <a:avLst/>
              <a:gdLst/>
              <a:ahLst/>
              <a:cxnLst/>
              <a:rect r="r" b="b" t="t" l="l"/>
              <a:pathLst>
                <a:path h="611043" w="797240">
                  <a:moveTo>
                    <a:pt x="76728" y="0"/>
                  </a:moveTo>
                  <a:lnTo>
                    <a:pt x="720512" y="0"/>
                  </a:lnTo>
                  <a:cubicBezTo>
                    <a:pt x="740861" y="0"/>
                    <a:pt x="760377" y="8084"/>
                    <a:pt x="774767" y="22473"/>
                  </a:cubicBezTo>
                  <a:cubicBezTo>
                    <a:pt x="789156" y="36862"/>
                    <a:pt x="797240" y="56379"/>
                    <a:pt x="797240" y="76728"/>
                  </a:cubicBezTo>
                  <a:lnTo>
                    <a:pt x="797240" y="534315"/>
                  </a:lnTo>
                  <a:cubicBezTo>
                    <a:pt x="797240" y="554665"/>
                    <a:pt x="789156" y="574181"/>
                    <a:pt x="774767" y="588570"/>
                  </a:cubicBezTo>
                  <a:cubicBezTo>
                    <a:pt x="760377" y="602960"/>
                    <a:pt x="740861" y="611043"/>
                    <a:pt x="720512" y="611043"/>
                  </a:cubicBezTo>
                  <a:lnTo>
                    <a:pt x="76728" y="611043"/>
                  </a:lnTo>
                  <a:cubicBezTo>
                    <a:pt x="56379" y="611043"/>
                    <a:pt x="36862" y="602960"/>
                    <a:pt x="22473" y="588570"/>
                  </a:cubicBezTo>
                  <a:cubicBezTo>
                    <a:pt x="8084" y="574181"/>
                    <a:pt x="0" y="554665"/>
                    <a:pt x="0" y="534315"/>
                  </a:cubicBezTo>
                  <a:lnTo>
                    <a:pt x="0" y="76728"/>
                  </a:lnTo>
                  <a:cubicBezTo>
                    <a:pt x="0" y="56379"/>
                    <a:pt x="8084" y="36862"/>
                    <a:pt x="22473" y="22473"/>
                  </a:cubicBezTo>
                  <a:cubicBezTo>
                    <a:pt x="36862" y="8084"/>
                    <a:pt x="56379" y="0"/>
                    <a:pt x="7672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97240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1056" y="6495599"/>
            <a:ext cx="885291" cy="8852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68535" y="6938244"/>
            <a:ext cx="3028264" cy="2320056"/>
            <a:chOff x="0" y="0"/>
            <a:chExt cx="797568" cy="611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7568" cy="611043"/>
            </a:xfrm>
            <a:custGeom>
              <a:avLst/>
              <a:gdLst/>
              <a:ahLst/>
              <a:cxnLst/>
              <a:rect r="r" b="b" t="t" l="l"/>
              <a:pathLst>
                <a:path h="611043" w="797568">
                  <a:moveTo>
                    <a:pt x="76697" y="0"/>
                  </a:moveTo>
                  <a:lnTo>
                    <a:pt x="720871" y="0"/>
                  </a:lnTo>
                  <a:cubicBezTo>
                    <a:pt x="741212" y="0"/>
                    <a:pt x="760720" y="8081"/>
                    <a:pt x="775104" y="22464"/>
                  </a:cubicBezTo>
                  <a:cubicBezTo>
                    <a:pt x="789487" y="36847"/>
                    <a:pt x="797568" y="56355"/>
                    <a:pt x="797568" y="76697"/>
                  </a:cubicBezTo>
                  <a:lnTo>
                    <a:pt x="797568" y="534347"/>
                  </a:lnTo>
                  <a:cubicBezTo>
                    <a:pt x="797568" y="554688"/>
                    <a:pt x="789487" y="574196"/>
                    <a:pt x="775104" y="588580"/>
                  </a:cubicBezTo>
                  <a:cubicBezTo>
                    <a:pt x="760720" y="602963"/>
                    <a:pt x="741212" y="611043"/>
                    <a:pt x="720871" y="611043"/>
                  </a:cubicBezTo>
                  <a:lnTo>
                    <a:pt x="76697" y="611043"/>
                  </a:lnTo>
                  <a:cubicBezTo>
                    <a:pt x="56355" y="611043"/>
                    <a:pt x="36847" y="602963"/>
                    <a:pt x="22464" y="588580"/>
                  </a:cubicBezTo>
                  <a:cubicBezTo>
                    <a:pt x="8081" y="574196"/>
                    <a:pt x="0" y="554688"/>
                    <a:pt x="0" y="534347"/>
                  </a:cubicBezTo>
                  <a:lnTo>
                    <a:pt x="0" y="76697"/>
                  </a:lnTo>
                  <a:cubicBezTo>
                    <a:pt x="0" y="56355"/>
                    <a:pt x="8081" y="36847"/>
                    <a:pt x="22464" y="22464"/>
                  </a:cubicBezTo>
                  <a:cubicBezTo>
                    <a:pt x="36847" y="8081"/>
                    <a:pt x="56355" y="0"/>
                    <a:pt x="76697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9756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26981" y="6938244"/>
            <a:ext cx="2999200" cy="2320056"/>
            <a:chOff x="0" y="0"/>
            <a:chExt cx="789913" cy="611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9913" cy="611043"/>
            </a:xfrm>
            <a:custGeom>
              <a:avLst/>
              <a:gdLst/>
              <a:ahLst/>
              <a:cxnLst/>
              <a:rect r="r" b="b" t="t" l="l"/>
              <a:pathLst>
                <a:path h="611043" w="789913">
                  <a:moveTo>
                    <a:pt x="77440" y="0"/>
                  </a:moveTo>
                  <a:lnTo>
                    <a:pt x="712473" y="0"/>
                  </a:lnTo>
                  <a:cubicBezTo>
                    <a:pt x="733011" y="0"/>
                    <a:pt x="752708" y="8159"/>
                    <a:pt x="767231" y="22682"/>
                  </a:cubicBezTo>
                  <a:cubicBezTo>
                    <a:pt x="781754" y="37204"/>
                    <a:pt x="789913" y="56902"/>
                    <a:pt x="789913" y="77440"/>
                  </a:cubicBezTo>
                  <a:lnTo>
                    <a:pt x="789913" y="533604"/>
                  </a:lnTo>
                  <a:cubicBezTo>
                    <a:pt x="789913" y="554142"/>
                    <a:pt x="781754" y="573839"/>
                    <a:pt x="767231" y="588362"/>
                  </a:cubicBezTo>
                  <a:cubicBezTo>
                    <a:pt x="752708" y="602885"/>
                    <a:pt x="733011" y="611043"/>
                    <a:pt x="712473" y="611043"/>
                  </a:cubicBezTo>
                  <a:lnTo>
                    <a:pt x="77440" y="611043"/>
                  </a:lnTo>
                  <a:cubicBezTo>
                    <a:pt x="56902" y="611043"/>
                    <a:pt x="37204" y="602885"/>
                    <a:pt x="22682" y="588362"/>
                  </a:cubicBezTo>
                  <a:cubicBezTo>
                    <a:pt x="8159" y="573839"/>
                    <a:pt x="0" y="554142"/>
                    <a:pt x="0" y="533604"/>
                  </a:cubicBezTo>
                  <a:lnTo>
                    <a:pt x="0" y="77440"/>
                  </a:lnTo>
                  <a:cubicBezTo>
                    <a:pt x="0" y="56902"/>
                    <a:pt x="8159" y="37204"/>
                    <a:pt x="22682" y="22682"/>
                  </a:cubicBezTo>
                  <a:cubicBezTo>
                    <a:pt x="37204" y="8159"/>
                    <a:pt x="56902" y="0"/>
                    <a:pt x="7744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89913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16701" y="6495599"/>
            <a:ext cx="885291" cy="8852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73903" y="6495599"/>
            <a:ext cx="885291" cy="8852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7092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19" y="0"/>
                </a:lnTo>
                <a:lnTo>
                  <a:pt x="333219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192736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49938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829963" y="1959276"/>
            <a:ext cx="3204710" cy="7299024"/>
            <a:chOff x="0" y="0"/>
            <a:chExt cx="844039" cy="19223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4039" cy="1922377"/>
            </a:xfrm>
            <a:custGeom>
              <a:avLst/>
              <a:gdLst/>
              <a:ahLst/>
              <a:cxnLst/>
              <a:rect r="r" b="b" t="t" l="l"/>
              <a:pathLst>
                <a:path h="1922377" w="844039">
                  <a:moveTo>
                    <a:pt x="123206" y="0"/>
                  </a:moveTo>
                  <a:lnTo>
                    <a:pt x="720833" y="0"/>
                  </a:lnTo>
                  <a:cubicBezTo>
                    <a:pt x="788878" y="0"/>
                    <a:pt x="844039" y="55161"/>
                    <a:pt x="844039" y="123206"/>
                  </a:cubicBezTo>
                  <a:lnTo>
                    <a:pt x="844039" y="1799171"/>
                  </a:lnTo>
                  <a:cubicBezTo>
                    <a:pt x="844039" y="1867216"/>
                    <a:pt x="788878" y="1922377"/>
                    <a:pt x="720833" y="1922377"/>
                  </a:cubicBezTo>
                  <a:lnTo>
                    <a:pt x="123206" y="1922377"/>
                  </a:lnTo>
                  <a:cubicBezTo>
                    <a:pt x="55161" y="1922377"/>
                    <a:pt x="0" y="1867216"/>
                    <a:pt x="0" y="1799171"/>
                  </a:cubicBezTo>
                  <a:lnTo>
                    <a:pt x="0" y="123206"/>
                  </a:lnTo>
                  <a:cubicBezTo>
                    <a:pt x="0" y="55161"/>
                    <a:pt x="55161" y="0"/>
                    <a:pt x="1232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44039" cy="19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85679" y="2556033"/>
            <a:ext cx="3699318" cy="3709191"/>
            <a:chOff x="0" y="0"/>
            <a:chExt cx="1562113" cy="15662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62113" cy="1566282"/>
            </a:xfrm>
            <a:custGeom>
              <a:avLst/>
              <a:gdLst/>
              <a:ahLst/>
              <a:cxnLst/>
              <a:rect r="r" b="b" t="t" l="l"/>
              <a:pathLst>
                <a:path h="1566282" w="1562113">
                  <a:moveTo>
                    <a:pt x="104640" y="0"/>
                  </a:moveTo>
                  <a:lnTo>
                    <a:pt x="1457473" y="0"/>
                  </a:lnTo>
                  <a:cubicBezTo>
                    <a:pt x="1485225" y="0"/>
                    <a:pt x="1511841" y="11025"/>
                    <a:pt x="1531464" y="30648"/>
                  </a:cubicBezTo>
                  <a:cubicBezTo>
                    <a:pt x="1551088" y="50272"/>
                    <a:pt x="1562113" y="76888"/>
                    <a:pt x="1562113" y="104640"/>
                  </a:cubicBezTo>
                  <a:lnTo>
                    <a:pt x="1562113" y="1461642"/>
                  </a:lnTo>
                  <a:cubicBezTo>
                    <a:pt x="1562113" y="1489394"/>
                    <a:pt x="1551088" y="1516010"/>
                    <a:pt x="1531464" y="1535633"/>
                  </a:cubicBezTo>
                  <a:cubicBezTo>
                    <a:pt x="1511841" y="1555257"/>
                    <a:pt x="1485225" y="1566282"/>
                    <a:pt x="1457473" y="1566282"/>
                  </a:cubicBezTo>
                  <a:lnTo>
                    <a:pt x="104640" y="1566282"/>
                  </a:lnTo>
                  <a:cubicBezTo>
                    <a:pt x="76888" y="1566282"/>
                    <a:pt x="50272" y="1555257"/>
                    <a:pt x="30648" y="1535633"/>
                  </a:cubicBezTo>
                  <a:cubicBezTo>
                    <a:pt x="11025" y="1516010"/>
                    <a:pt x="0" y="1489394"/>
                    <a:pt x="0" y="1461642"/>
                  </a:cubicBezTo>
                  <a:lnTo>
                    <a:pt x="0" y="104640"/>
                  </a:lnTo>
                  <a:cubicBezTo>
                    <a:pt x="0" y="76888"/>
                    <a:pt x="11025" y="50272"/>
                    <a:pt x="30648" y="30648"/>
                  </a:cubicBezTo>
                  <a:cubicBezTo>
                    <a:pt x="50272" y="11025"/>
                    <a:pt x="76888" y="0"/>
                    <a:pt x="10464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20844" y="4897872"/>
            <a:ext cx="3699318" cy="3709191"/>
            <a:chOff x="0" y="0"/>
            <a:chExt cx="1562113" cy="15662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62113" cy="1566282"/>
            </a:xfrm>
            <a:custGeom>
              <a:avLst/>
              <a:gdLst/>
              <a:ahLst/>
              <a:cxnLst/>
              <a:rect r="r" b="b" t="t" l="l"/>
              <a:pathLst>
                <a:path h="1566282" w="1562113">
                  <a:moveTo>
                    <a:pt x="104640" y="0"/>
                  </a:moveTo>
                  <a:lnTo>
                    <a:pt x="1457473" y="0"/>
                  </a:lnTo>
                  <a:cubicBezTo>
                    <a:pt x="1485225" y="0"/>
                    <a:pt x="1511841" y="11025"/>
                    <a:pt x="1531464" y="30648"/>
                  </a:cubicBezTo>
                  <a:cubicBezTo>
                    <a:pt x="1551088" y="50272"/>
                    <a:pt x="1562113" y="76888"/>
                    <a:pt x="1562113" y="104640"/>
                  </a:cubicBezTo>
                  <a:lnTo>
                    <a:pt x="1562113" y="1461642"/>
                  </a:lnTo>
                  <a:cubicBezTo>
                    <a:pt x="1562113" y="1489394"/>
                    <a:pt x="1551088" y="1516010"/>
                    <a:pt x="1531464" y="1535633"/>
                  </a:cubicBezTo>
                  <a:cubicBezTo>
                    <a:pt x="1511841" y="1555257"/>
                    <a:pt x="1485225" y="1566282"/>
                    <a:pt x="1457473" y="1566282"/>
                  </a:cubicBezTo>
                  <a:lnTo>
                    <a:pt x="104640" y="1566282"/>
                  </a:lnTo>
                  <a:cubicBezTo>
                    <a:pt x="76888" y="1566282"/>
                    <a:pt x="50272" y="1555257"/>
                    <a:pt x="30648" y="1535633"/>
                  </a:cubicBezTo>
                  <a:cubicBezTo>
                    <a:pt x="11025" y="1516010"/>
                    <a:pt x="0" y="1489394"/>
                    <a:pt x="0" y="1461642"/>
                  </a:cubicBezTo>
                  <a:lnTo>
                    <a:pt x="0" y="104640"/>
                  </a:lnTo>
                  <a:cubicBezTo>
                    <a:pt x="0" y="76888"/>
                    <a:pt x="11025" y="50272"/>
                    <a:pt x="30648" y="30648"/>
                  </a:cubicBezTo>
                  <a:cubicBezTo>
                    <a:pt x="50272" y="11025"/>
                    <a:pt x="76888" y="0"/>
                    <a:pt x="10464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4" r="0" b="-5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957891" y="1653383"/>
            <a:ext cx="2213550" cy="221355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-1169067" y="8747601"/>
            <a:ext cx="2213550" cy="221355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070311" y="1574958"/>
            <a:ext cx="795080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5"/>
              </a:lnSpc>
            </a:pPr>
            <a:r>
              <a:rPr lang="en-US" b="true" sz="799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¿Qué es</a:t>
            </a:r>
            <a:r>
              <a:rPr lang="en-US" b="true" sz="799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HTTP?</a:t>
            </a:r>
          </a:p>
          <a:p>
            <a:pPr algn="l" marL="0" indent="0" lvl="0">
              <a:lnSpc>
                <a:spcPts val="5995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642463" y="7941732"/>
            <a:ext cx="2167874" cy="66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Cliente-Servidor</a:t>
            </a:r>
          </a:p>
          <a:p>
            <a:pPr algn="l" marL="0" indent="0" lvl="0">
              <a:lnSpc>
                <a:spcPts val="256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850392" y="7941732"/>
            <a:ext cx="2846406" cy="66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Petición → Respuesta</a:t>
            </a:r>
          </a:p>
          <a:p>
            <a:pPr algn="l" marL="0" indent="0" lvl="0">
              <a:lnSpc>
                <a:spcPts val="2563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8228766" y="7941732"/>
            <a:ext cx="3069230" cy="66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avegador ⇄ Servidor</a:t>
            </a:r>
          </a:p>
          <a:p>
            <a:pPr algn="l" marL="0" indent="0" lvl="0">
              <a:lnSpc>
                <a:spcPts val="2563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3155025" y="3959167"/>
            <a:ext cx="2742514" cy="2320056"/>
            <a:chOff x="0" y="0"/>
            <a:chExt cx="722308" cy="6110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2308" cy="611043"/>
            </a:xfrm>
            <a:custGeom>
              <a:avLst/>
              <a:gdLst/>
              <a:ahLst/>
              <a:cxnLst/>
              <a:rect r="r" b="b" t="t" l="l"/>
              <a:pathLst>
                <a:path h="611043" w="722308">
                  <a:moveTo>
                    <a:pt x="84688" y="0"/>
                  </a:moveTo>
                  <a:lnTo>
                    <a:pt x="637620" y="0"/>
                  </a:lnTo>
                  <a:cubicBezTo>
                    <a:pt x="684392" y="0"/>
                    <a:pt x="722308" y="37916"/>
                    <a:pt x="722308" y="84688"/>
                  </a:cubicBezTo>
                  <a:lnTo>
                    <a:pt x="722308" y="526356"/>
                  </a:lnTo>
                  <a:cubicBezTo>
                    <a:pt x="722308" y="548816"/>
                    <a:pt x="713386" y="570357"/>
                    <a:pt x="697504" y="586239"/>
                  </a:cubicBezTo>
                  <a:cubicBezTo>
                    <a:pt x="681622" y="602121"/>
                    <a:pt x="660081" y="611043"/>
                    <a:pt x="637620" y="611043"/>
                  </a:cubicBezTo>
                  <a:lnTo>
                    <a:pt x="84688" y="611043"/>
                  </a:lnTo>
                  <a:cubicBezTo>
                    <a:pt x="62227" y="611043"/>
                    <a:pt x="40687" y="602121"/>
                    <a:pt x="24804" y="586239"/>
                  </a:cubicBezTo>
                  <a:cubicBezTo>
                    <a:pt x="8922" y="570357"/>
                    <a:pt x="0" y="548816"/>
                    <a:pt x="0" y="526356"/>
                  </a:cubicBezTo>
                  <a:lnTo>
                    <a:pt x="0" y="84688"/>
                  </a:lnTo>
                  <a:cubicBezTo>
                    <a:pt x="0" y="62227"/>
                    <a:pt x="8922" y="40687"/>
                    <a:pt x="24804" y="24804"/>
                  </a:cubicBezTo>
                  <a:cubicBezTo>
                    <a:pt x="40687" y="8922"/>
                    <a:pt x="62227" y="0"/>
                    <a:pt x="8468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2230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403191" y="3516522"/>
            <a:ext cx="885291" cy="88529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82045" y="3959167"/>
            <a:ext cx="2742514" cy="2320056"/>
            <a:chOff x="0" y="0"/>
            <a:chExt cx="722308" cy="61104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2308" cy="611043"/>
            </a:xfrm>
            <a:custGeom>
              <a:avLst/>
              <a:gdLst/>
              <a:ahLst/>
              <a:cxnLst/>
              <a:rect r="r" b="b" t="t" l="l"/>
              <a:pathLst>
                <a:path h="611043" w="722308">
                  <a:moveTo>
                    <a:pt x="84688" y="0"/>
                  </a:moveTo>
                  <a:lnTo>
                    <a:pt x="637620" y="0"/>
                  </a:lnTo>
                  <a:cubicBezTo>
                    <a:pt x="684392" y="0"/>
                    <a:pt x="722308" y="37916"/>
                    <a:pt x="722308" y="84688"/>
                  </a:cubicBezTo>
                  <a:lnTo>
                    <a:pt x="722308" y="526356"/>
                  </a:lnTo>
                  <a:cubicBezTo>
                    <a:pt x="722308" y="548816"/>
                    <a:pt x="713386" y="570357"/>
                    <a:pt x="697504" y="586239"/>
                  </a:cubicBezTo>
                  <a:cubicBezTo>
                    <a:pt x="681622" y="602121"/>
                    <a:pt x="660081" y="611043"/>
                    <a:pt x="637620" y="611043"/>
                  </a:cubicBezTo>
                  <a:lnTo>
                    <a:pt x="84688" y="611043"/>
                  </a:lnTo>
                  <a:cubicBezTo>
                    <a:pt x="62227" y="611043"/>
                    <a:pt x="40687" y="602121"/>
                    <a:pt x="24804" y="586239"/>
                  </a:cubicBezTo>
                  <a:cubicBezTo>
                    <a:pt x="8922" y="570357"/>
                    <a:pt x="0" y="548816"/>
                    <a:pt x="0" y="526356"/>
                  </a:cubicBezTo>
                  <a:lnTo>
                    <a:pt x="0" y="84688"/>
                  </a:lnTo>
                  <a:cubicBezTo>
                    <a:pt x="0" y="62227"/>
                    <a:pt x="8922" y="40687"/>
                    <a:pt x="24804" y="24804"/>
                  </a:cubicBezTo>
                  <a:cubicBezTo>
                    <a:pt x="40687" y="8922"/>
                    <a:pt x="62227" y="0"/>
                    <a:pt x="8468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72230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430211" y="3516522"/>
            <a:ext cx="885291" cy="885291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3679226" y="3827839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6"/>
                </a:lnTo>
                <a:lnTo>
                  <a:pt x="0" y="26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706246" y="3827839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6"/>
                </a:lnTo>
                <a:lnTo>
                  <a:pt x="0" y="26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3403191" y="4736204"/>
            <a:ext cx="2167874" cy="137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Hyp</a:t>
            </a: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erText Transfer </a:t>
            </a:r>
          </a:p>
          <a:p>
            <a:pPr algn="l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Protocol</a:t>
            </a:r>
          </a:p>
          <a:p>
            <a:pPr algn="l" marL="0" indent="0" lvl="0">
              <a:lnSpc>
                <a:spcPts val="2563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6430211" y="4736204"/>
            <a:ext cx="2219728" cy="169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</a:pP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03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rotocolo de comunicación en la web</a:t>
            </a:r>
          </a:p>
          <a:p>
            <a:pPr algn="l">
              <a:lnSpc>
                <a:spcPts val="2563"/>
              </a:lnSpc>
            </a:pPr>
          </a:p>
          <a:p>
            <a:pPr algn="l" marL="0" indent="0" lvl="0">
              <a:lnSpc>
                <a:spcPts val="2563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1C6B">
                <a:alpha val="100000"/>
              </a:srgbClr>
            </a:gs>
            <a:gs pos="100000">
              <a:srgbClr val="07033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1712" y="1994389"/>
            <a:ext cx="7812684" cy="2380502"/>
            <a:chOff x="0" y="0"/>
            <a:chExt cx="2057662" cy="626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7662" cy="626963"/>
            </a:xfrm>
            <a:custGeom>
              <a:avLst/>
              <a:gdLst/>
              <a:ahLst/>
              <a:cxnLst/>
              <a:rect r="r" b="b" t="t" l="l"/>
              <a:pathLst>
                <a:path h="626963" w="2057662">
                  <a:moveTo>
                    <a:pt x="50538" y="0"/>
                  </a:moveTo>
                  <a:lnTo>
                    <a:pt x="2007124" y="0"/>
                  </a:lnTo>
                  <a:cubicBezTo>
                    <a:pt x="2020527" y="0"/>
                    <a:pt x="2033382" y="5325"/>
                    <a:pt x="2042859" y="14802"/>
                  </a:cubicBezTo>
                  <a:cubicBezTo>
                    <a:pt x="2052337" y="24280"/>
                    <a:pt x="2057662" y="37135"/>
                    <a:pt x="2057662" y="50538"/>
                  </a:cubicBezTo>
                  <a:lnTo>
                    <a:pt x="2057662" y="576425"/>
                  </a:lnTo>
                  <a:cubicBezTo>
                    <a:pt x="2057662" y="604337"/>
                    <a:pt x="2035035" y="626963"/>
                    <a:pt x="2007124" y="626963"/>
                  </a:cubicBezTo>
                  <a:lnTo>
                    <a:pt x="50538" y="626963"/>
                  </a:lnTo>
                  <a:cubicBezTo>
                    <a:pt x="22627" y="626963"/>
                    <a:pt x="0" y="604337"/>
                    <a:pt x="0" y="576425"/>
                  </a:cubicBezTo>
                  <a:lnTo>
                    <a:pt x="0" y="50538"/>
                  </a:lnTo>
                  <a:cubicBezTo>
                    <a:pt x="0" y="22627"/>
                    <a:pt x="22627" y="0"/>
                    <a:pt x="505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57662" cy="684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68676" y="2994027"/>
            <a:ext cx="6998311" cy="47625"/>
            <a:chOff x="0" y="0"/>
            <a:chExt cx="1843177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3177" cy="12543"/>
            </a:xfrm>
            <a:custGeom>
              <a:avLst/>
              <a:gdLst/>
              <a:ahLst/>
              <a:cxnLst/>
              <a:rect r="r" b="b" t="t" l="l"/>
              <a:pathLst>
                <a:path h="12543" w="1843177">
                  <a:moveTo>
                    <a:pt x="6272" y="0"/>
                  </a:moveTo>
                  <a:lnTo>
                    <a:pt x="1836905" y="0"/>
                  </a:lnTo>
                  <a:cubicBezTo>
                    <a:pt x="1838568" y="0"/>
                    <a:pt x="1840164" y="661"/>
                    <a:pt x="1841340" y="1837"/>
                  </a:cubicBezTo>
                  <a:cubicBezTo>
                    <a:pt x="1842516" y="3013"/>
                    <a:pt x="1843177" y="4608"/>
                    <a:pt x="1843177" y="6272"/>
                  </a:cubicBezTo>
                  <a:lnTo>
                    <a:pt x="1843177" y="6272"/>
                  </a:lnTo>
                  <a:cubicBezTo>
                    <a:pt x="1843177" y="7935"/>
                    <a:pt x="1842516" y="9530"/>
                    <a:pt x="1841340" y="10706"/>
                  </a:cubicBezTo>
                  <a:cubicBezTo>
                    <a:pt x="1840164" y="11882"/>
                    <a:pt x="1838568" y="12543"/>
                    <a:pt x="183690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43177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82834" y="2635304"/>
            <a:ext cx="4402658" cy="7173348"/>
            <a:chOff x="0" y="0"/>
            <a:chExt cx="929556" cy="15145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9556" cy="1514546"/>
            </a:xfrm>
            <a:custGeom>
              <a:avLst/>
              <a:gdLst/>
              <a:ahLst/>
              <a:cxnLst/>
              <a:rect r="r" b="b" t="t" l="l"/>
              <a:pathLst>
                <a:path h="1514546" w="929556">
                  <a:moveTo>
                    <a:pt x="40445" y="0"/>
                  </a:moveTo>
                  <a:lnTo>
                    <a:pt x="889111" y="0"/>
                  </a:lnTo>
                  <a:cubicBezTo>
                    <a:pt x="911448" y="0"/>
                    <a:pt x="929556" y="18108"/>
                    <a:pt x="929556" y="40445"/>
                  </a:cubicBezTo>
                  <a:lnTo>
                    <a:pt x="929556" y="1474102"/>
                  </a:lnTo>
                  <a:cubicBezTo>
                    <a:pt x="929556" y="1496439"/>
                    <a:pt x="911448" y="1514546"/>
                    <a:pt x="889111" y="1514546"/>
                  </a:cubicBezTo>
                  <a:lnTo>
                    <a:pt x="40445" y="1514546"/>
                  </a:lnTo>
                  <a:cubicBezTo>
                    <a:pt x="29718" y="1514546"/>
                    <a:pt x="19431" y="1510285"/>
                    <a:pt x="11846" y="1502700"/>
                  </a:cubicBezTo>
                  <a:cubicBezTo>
                    <a:pt x="4261" y="1495116"/>
                    <a:pt x="0" y="1484828"/>
                    <a:pt x="0" y="1474102"/>
                  </a:cubicBezTo>
                  <a:lnTo>
                    <a:pt x="0" y="40445"/>
                  </a:lnTo>
                  <a:cubicBezTo>
                    <a:pt x="0" y="29718"/>
                    <a:pt x="4261" y="19431"/>
                    <a:pt x="11846" y="11846"/>
                  </a:cubicBezTo>
                  <a:cubicBezTo>
                    <a:pt x="19431" y="4261"/>
                    <a:pt x="29718" y="0"/>
                    <a:pt x="40445" y="0"/>
                  </a:cubicBezTo>
                  <a:close/>
                </a:path>
              </a:pathLst>
            </a:custGeom>
            <a:blipFill>
              <a:blip r:embed="rId2"/>
              <a:stretch>
                <a:fillRect l="-610" t="0" r="-61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382544" y="6212491"/>
            <a:ext cx="986958" cy="789567"/>
          </a:xfrm>
          <a:custGeom>
            <a:avLst/>
            <a:gdLst/>
            <a:ahLst/>
            <a:cxnLst/>
            <a:rect r="r" b="b" t="t" l="l"/>
            <a:pathLst>
              <a:path h="789567" w="986958">
                <a:moveTo>
                  <a:pt x="0" y="0"/>
                </a:moveTo>
                <a:lnTo>
                  <a:pt x="986959" y="0"/>
                </a:lnTo>
                <a:lnTo>
                  <a:pt x="986959" y="789566"/>
                </a:lnTo>
                <a:lnTo>
                  <a:pt x="0" y="789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073307" y="1994389"/>
            <a:ext cx="2213550" cy="22135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81225" y="7339539"/>
            <a:ext cx="2213550" cy="22135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1782" y="1822595"/>
            <a:ext cx="812708" cy="81270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69484" y="8719112"/>
            <a:ext cx="833977" cy="8339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24491" y="324044"/>
            <a:ext cx="14720627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b="true" sz="79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79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eticiones y respuestas HTTP</a:t>
            </a:r>
          </a:p>
          <a:p>
            <a:pPr algn="l" marL="0" indent="0" lvl="0">
              <a:lnSpc>
                <a:spcPts val="959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559872" y="2289346"/>
            <a:ext cx="3205920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Com</a:t>
            </a: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unicación</a:t>
            </a:r>
          </a:p>
          <a:p>
            <a:pPr algn="l" marL="0" indent="0" lvl="0">
              <a:lnSpc>
                <a:spcPts val="349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568676" y="3251202"/>
            <a:ext cx="7450749" cy="100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27" indent="-215763" lvl="1">
              <a:lnSpc>
                <a:spcPts val="27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etición: método + URL + cabeceras</a:t>
            </a:r>
          </a:p>
          <a:p>
            <a:pPr algn="l" marL="431527" indent="-215763" lvl="1">
              <a:lnSpc>
                <a:spcPts val="27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Respuesta: código de estado + cabeceras + contenido</a:t>
            </a:r>
          </a:p>
          <a:p>
            <a:pPr algn="l" marL="0" indent="0" lvl="0">
              <a:lnSpc>
                <a:spcPts val="2518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8131712" y="4917815"/>
            <a:ext cx="7812684" cy="2393896"/>
            <a:chOff x="0" y="0"/>
            <a:chExt cx="2057662" cy="6304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7662" cy="630491"/>
            </a:xfrm>
            <a:custGeom>
              <a:avLst/>
              <a:gdLst/>
              <a:ahLst/>
              <a:cxnLst/>
              <a:rect r="r" b="b" t="t" l="l"/>
              <a:pathLst>
                <a:path h="630491" w="2057662">
                  <a:moveTo>
                    <a:pt x="50538" y="0"/>
                  </a:moveTo>
                  <a:lnTo>
                    <a:pt x="2007124" y="0"/>
                  </a:lnTo>
                  <a:cubicBezTo>
                    <a:pt x="2020527" y="0"/>
                    <a:pt x="2033382" y="5325"/>
                    <a:pt x="2042859" y="14802"/>
                  </a:cubicBezTo>
                  <a:cubicBezTo>
                    <a:pt x="2052337" y="24280"/>
                    <a:pt x="2057662" y="37135"/>
                    <a:pt x="2057662" y="50538"/>
                  </a:cubicBezTo>
                  <a:lnTo>
                    <a:pt x="2057662" y="579953"/>
                  </a:lnTo>
                  <a:cubicBezTo>
                    <a:pt x="2057662" y="607865"/>
                    <a:pt x="2035035" y="630491"/>
                    <a:pt x="2007124" y="630491"/>
                  </a:cubicBezTo>
                  <a:lnTo>
                    <a:pt x="50538" y="630491"/>
                  </a:lnTo>
                  <a:cubicBezTo>
                    <a:pt x="22627" y="630491"/>
                    <a:pt x="0" y="607865"/>
                    <a:pt x="0" y="579953"/>
                  </a:cubicBezTo>
                  <a:lnTo>
                    <a:pt x="0" y="50538"/>
                  </a:lnTo>
                  <a:cubicBezTo>
                    <a:pt x="0" y="22627"/>
                    <a:pt x="22627" y="0"/>
                    <a:pt x="505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057662" cy="68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68676" y="5930848"/>
            <a:ext cx="6998311" cy="47625"/>
            <a:chOff x="0" y="0"/>
            <a:chExt cx="1843177" cy="125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43177" cy="12543"/>
            </a:xfrm>
            <a:custGeom>
              <a:avLst/>
              <a:gdLst/>
              <a:ahLst/>
              <a:cxnLst/>
              <a:rect r="r" b="b" t="t" l="l"/>
              <a:pathLst>
                <a:path h="12543" w="1843177">
                  <a:moveTo>
                    <a:pt x="6272" y="0"/>
                  </a:moveTo>
                  <a:lnTo>
                    <a:pt x="1836905" y="0"/>
                  </a:lnTo>
                  <a:cubicBezTo>
                    <a:pt x="1838568" y="0"/>
                    <a:pt x="1840164" y="661"/>
                    <a:pt x="1841340" y="1837"/>
                  </a:cubicBezTo>
                  <a:cubicBezTo>
                    <a:pt x="1842516" y="3013"/>
                    <a:pt x="1843177" y="4608"/>
                    <a:pt x="1843177" y="6272"/>
                  </a:cubicBezTo>
                  <a:lnTo>
                    <a:pt x="1843177" y="6272"/>
                  </a:lnTo>
                  <a:cubicBezTo>
                    <a:pt x="1843177" y="7935"/>
                    <a:pt x="1842516" y="9530"/>
                    <a:pt x="1841340" y="10706"/>
                  </a:cubicBezTo>
                  <a:cubicBezTo>
                    <a:pt x="1840164" y="11882"/>
                    <a:pt x="1838568" y="12543"/>
                    <a:pt x="183690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843177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559872" y="5226168"/>
            <a:ext cx="3205920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Métod</a:t>
            </a: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68676" y="6188023"/>
            <a:ext cx="5708314" cy="100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27" indent="-215763" lvl="1">
              <a:lnSpc>
                <a:spcPts val="27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GET</a:t>
            </a: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→ pedir datos</a:t>
            </a:r>
          </a:p>
          <a:p>
            <a:pPr algn="l" marL="431527" indent="-215763" lvl="1">
              <a:lnSpc>
                <a:spcPts val="27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POST → enviar datos (formularios)</a:t>
            </a:r>
          </a:p>
          <a:p>
            <a:pPr algn="l" marL="0" indent="0" lvl="0">
              <a:lnSpc>
                <a:spcPts val="2518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8100796" y="7854637"/>
            <a:ext cx="7812684" cy="1954015"/>
            <a:chOff x="0" y="0"/>
            <a:chExt cx="2057662" cy="5146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57662" cy="514638"/>
            </a:xfrm>
            <a:custGeom>
              <a:avLst/>
              <a:gdLst/>
              <a:ahLst/>
              <a:cxnLst/>
              <a:rect r="r" b="b" t="t" l="l"/>
              <a:pathLst>
                <a:path h="514638" w="2057662">
                  <a:moveTo>
                    <a:pt x="50538" y="0"/>
                  </a:moveTo>
                  <a:lnTo>
                    <a:pt x="2007124" y="0"/>
                  </a:lnTo>
                  <a:cubicBezTo>
                    <a:pt x="2020527" y="0"/>
                    <a:pt x="2033382" y="5325"/>
                    <a:pt x="2042859" y="14802"/>
                  </a:cubicBezTo>
                  <a:cubicBezTo>
                    <a:pt x="2052337" y="24280"/>
                    <a:pt x="2057662" y="37135"/>
                    <a:pt x="2057662" y="50538"/>
                  </a:cubicBezTo>
                  <a:lnTo>
                    <a:pt x="2057662" y="464100"/>
                  </a:lnTo>
                  <a:cubicBezTo>
                    <a:pt x="2057662" y="492011"/>
                    <a:pt x="2035035" y="514638"/>
                    <a:pt x="2007124" y="514638"/>
                  </a:cubicBezTo>
                  <a:lnTo>
                    <a:pt x="50538" y="514638"/>
                  </a:lnTo>
                  <a:cubicBezTo>
                    <a:pt x="37135" y="514638"/>
                    <a:pt x="24280" y="509313"/>
                    <a:pt x="14802" y="499835"/>
                  </a:cubicBezTo>
                  <a:cubicBezTo>
                    <a:pt x="5325" y="490358"/>
                    <a:pt x="0" y="477503"/>
                    <a:pt x="0" y="464100"/>
                  </a:cubicBezTo>
                  <a:lnTo>
                    <a:pt x="0" y="50538"/>
                  </a:lnTo>
                  <a:cubicBezTo>
                    <a:pt x="0" y="22627"/>
                    <a:pt x="22627" y="0"/>
                    <a:pt x="5053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057662" cy="571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37760" y="8867670"/>
            <a:ext cx="6998311" cy="47625"/>
            <a:chOff x="0" y="0"/>
            <a:chExt cx="1843177" cy="125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43177" cy="12543"/>
            </a:xfrm>
            <a:custGeom>
              <a:avLst/>
              <a:gdLst/>
              <a:ahLst/>
              <a:cxnLst/>
              <a:rect r="r" b="b" t="t" l="l"/>
              <a:pathLst>
                <a:path h="12543" w="1843177">
                  <a:moveTo>
                    <a:pt x="6272" y="0"/>
                  </a:moveTo>
                  <a:lnTo>
                    <a:pt x="1836905" y="0"/>
                  </a:lnTo>
                  <a:cubicBezTo>
                    <a:pt x="1838568" y="0"/>
                    <a:pt x="1840164" y="661"/>
                    <a:pt x="1841340" y="1837"/>
                  </a:cubicBezTo>
                  <a:cubicBezTo>
                    <a:pt x="1842516" y="3013"/>
                    <a:pt x="1843177" y="4608"/>
                    <a:pt x="1843177" y="6272"/>
                  </a:cubicBezTo>
                  <a:lnTo>
                    <a:pt x="1843177" y="6272"/>
                  </a:lnTo>
                  <a:cubicBezTo>
                    <a:pt x="1843177" y="7935"/>
                    <a:pt x="1842516" y="9530"/>
                    <a:pt x="1841340" y="10706"/>
                  </a:cubicBezTo>
                  <a:cubicBezTo>
                    <a:pt x="1840164" y="11882"/>
                    <a:pt x="1838568" y="12543"/>
                    <a:pt x="183690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843177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528956" y="8162989"/>
            <a:ext cx="3205920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Esquema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37760" y="9124845"/>
            <a:ext cx="7450749" cy="65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27" indent="-215763" lvl="1">
              <a:lnSpc>
                <a:spcPts val="27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navegador → petición → servidor → respuesta</a:t>
            </a:r>
          </a:p>
          <a:p>
            <a:pPr algn="l" marL="0" indent="0" lvl="0">
              <a:lnSpc>
                <a:spcPts val="2518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87721" y="3986338"/>
            <a:ext cx="5335541" cy="4976113"/>
            <a:chOff x="0" y="0"/>
            <a:chExt cx="1409827" cy="13148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827" cy="1314854"/>
            </a:xfrm>
            <a:custGeom>
              <a:avLst/>
              <a:gdLst/>
              <a:ahLst/>
              <a:cxnLst/>
              <a:rect r="r" b="b" t="t" l="l"/>
              <a:pathLst>
                <a:path h="1314854" w="1409827">
                  <a:moveTo>
                    <a:pt x="33373" y="0"/>
                  </a:moveTo>
                  <a:lnTo>
                    <a:pt x="1376453" y="0"/>
                  </a:lnTo>
                  <a:cubicBezTo>
                    <a:pt x="1385305" y="0"/>
                    <a:pt x="1393793" y="3516"/>
                    <a:pt x="1400052" y="9775"/>
                  </a:cubicBezTo>
                  <a:cubicBezTo>
                    <a:pt x="1406311" y="16033"/>
                    <a:pt x="1409827" y="24522"/>
                    <a:pt x="1409827" y="33373"/>
                  </a:cubicBezTo>
                  <a:lnTo>
                    <a:pt x="1409827" y="1281481"/>
                  </a:lnTo>
                  <a:cubicBezTo>
                    <a:pt x="1409827" y="1290332"/>
                    <a:pt x="1406311" y="1298820"/>
                    <a:pt x="1400052" y="1305079"/>
                  </a:cubicBezTo>
                  <a:cubicBezTo>
                    <a:pt x="1393793" y="1311338"/>
                    <a:pt x="1385305" y="1314854"/>
                    <a:pt x="1376453" y="1314854"/>
                  </a:cubicBezTo>
                  <a:lnTo>
                    <a:pt x="33373" y="1314854"/>
                  </a:lnTo>
                  <a:cubicBezTo>
                    <a:pt x="24522" y="1314854"/>
                    <a:pt x="16033" y="1311338"/>
                    <a:pt x="9775" y="1305079"/>
                  </a:cubicBezTo>
                  <a:cubicBezTo>
                    <a:pt x="3516" y="1298820"/>
                    <a:pt x="0" y="1290332"/>
                    <a:pt x="0" y="1281481"/>
                  </a:cubicBezTo>
                  <a:lnTo>
                    <a:pt x="0" y="33373"/>
                  </a:lnTo>
                  <a:cubicBezTo>
                    <a:pt x="0" y="24522"/>
                    <a:pt x="3516" y="16033"/>
                    <a:pt x="9775" y="9775"/>
                  </a:cubicBezTo>
                  <a:cubicBezTo>
                    <a:pt x="16033" y="3516"/>
                    <a:pt x="24522" y="0"/>
                    <a:pt x="33373" y="0"/>
                  </a:cubicBezTo>
                  <a:close/>
                </a:path>
              </a:pathLst>
            </a:custGeom>
            <a:blipFill>
              <a:blip r:embed="rId2"/>
              <a:stretch>
                <a:fillRect l="-412" t="0" r="-4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73307" y="6922376"/>
            <a:ext cx="2213550" cy="221355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02564" y="2304029"/>
            <a:ext cx="4726436" cy="3100950"/>
          </a:xfrm>
          <a:custGeom>
            <a:avLst/>
            <a:gdLst/>
            <a:ahLst/>
            <a:cxnLst/>
            <a:rect r="r" b="b" t="t" l="l"/>
            <a:pathLst>
              <a:path h="3100950" w="4726436">
                <a:moveTo>
                  <a:pt x="0" y="0"/>
                </a:moveTo>
                <a:lnTo>
                  <a:pt x="4726436" y="0"/>
                </a:lnTo>
                <a:lnTo>
                  <a:pt x="4726436" y="3100950"/>
                </a:lnTo>
                <a:lnTo>
                  <a:pt x="0" y="310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25" t="-5629" r="-16745" b="-936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75990" y="1837606"/>
            <a:ext cx="812708" cy="8127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65782" y="8192028"/>
            <a:ext cx="1540845" cy="15408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6908" y="6444294"/>
            <a:ext cx="812708" cy="8127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7200275" y="1640954"/>
            <a:ext cx="2213550" cy="22135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0260428" y="3281691"/>
          <a:ext cx="6409036" cy="5133975"/>
        </p:xfrm>
        <a:graphic>
          <a:graphicData uri="http://schemas.openxmlformats.org/drawingml/2006/table">
            <a:tbl>
              <a:tblPr/>
              <a:tblGrid>
                <a:gridCol w="3233005"/>
                <a:gridCol w="3176031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E10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CRUD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E10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Método HTTP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Create (crear)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Read (leer)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Update (actualizar)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PUT / PATCH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Delete (borrar)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DELETE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3629572" y="627931"/>
            <a:ext cx="1102885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b="true" sz="79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CRUD y Mé</a:t>
            </a:r>
            <a:r>
              <a:rPr lang="en-US" b="true" sz="79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todos HTTP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6775" y="1640954"/>
            <a:ext cx="2213550" cy="22135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7181225" y="9035626"/>
            <a:ext cx="2213550" cy="22135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7879" y="7431001"/>
            <a:ext cx="3666743" cy="1827299"/>
          </a:xfrm>
          <a:custGeom>
            <a:avLst/>
            <a:gdLst/>
            <a:ahLst/>
            <a:cxnLst/>
            <a:rect r="r" b="b" t="t" l="l"/>
            <a:pathLst>
              <a:path h="1827299" w="3666743">
                <a:moveTo>
                  <a:pt x="0" y="0"/>
                </a:moveTo>
                <a:lnTo>
                  <a:pt x="3666743" y="0"/>
                </a:lnTo>
                <a:lnTo>
                  <a:pt x="3666743" y="1827299"/>
                </a:lnTo>
                <a:lnTo>
                  <a:pt x="0" y="1827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35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7879" y="5652125"/>
            <a:ext cx="3666743" cy="2064827"/>
          </a:xfrm>
          <a:custGeom>
            <a:avLst/>
            <a:gdLst/>
            <a:ahLst/>
            <a:cxnLst/>
            <a:rect r="r" b="b" t="t" l="l"/>
            <a:pathLst>
              <a:path h="2064827" w="3666743">
                <a:moveTo>
                  <a:pt x="0" y="0"/>
                </a:moveTo>
                <a:lnTo>
                  <a:pt x="3666743" y="0"/>
                </a:lnTo>
                <a:lnTo>
                  <a:pt x="3666743" y="2064827"/>
                </a:lnTo>
                <a:lnTo>
                  <a:pt x="0" y="2064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752735" y="3398304"/>
            <a:ext cx="8879965" cy="3490391"/>
          </a:xfrm>
          <a:custGeom>
            <a:avLst/>
            <a:gdLst/>
            <a:ahLst/>
            <a:cxnLst/>
            <a:rect r="r" b="b" t="t" l="l"/>
            <a:pathLst>
              <a:path h="3490391" w="8879965">
                <a:moveTo>
                  <a:pt x="0" y="0"/>
                </a:moveTo>
                <a:lnTo>
                  <a:pt x="8879965" y="0"/>
                </a:lnTo>
                <a:lnTo>
                  <a:pt x="8879965" y="3490392"/>
                </a:lnTo>
                <a:lnTo>
                  <a:pt x="0" y="3490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7902" y="113011"/>
            <a:ext cx="16635749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13"/>
              </a:lnSpc>
            </a:pPr>
            <a:r>
              <a:rPr lang="en-US" b="true" sz="60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Clientes y Servidores </a:t>
            </a:r>
            <a:r>
              <a:rPr lang="en-US" b="true" sz="60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HTTP</a:t>
            </a:r>
          </a:p>
          <a:p>
            <a:pPr algn="ctr" marL="0" indent="0" lvl="0">
              <a:lnSpc>
                <a:spcPts val="7313"/>
              </a:lnSpc>
            </a:pPr>
            <a:r>
              <a:rPr lang="en-US" b="true" sz="60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+</a:t>
            </a:r>
          </a:p>
          <a:p>
            <a:pPr algn="ctr" marL="0" indent="0" lvl="0">
              <a:lnSpc>
                <a:spcPts val="7313"/>
              </a:lnSpc>
            </a:pPr>
            <a:r>
              <a:rPr lang="en-US" b="true" sz="60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60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ódigos de estado</a:t>
            </a:r>
          </a:p>
          <a:p>
            <a:pPr algn="l" marL="0" indent="0" lvl="0">
              <a:lnSpc>
                <a:spcPts val="731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61086"/>
            <a:ext cx="551509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Cliente: navegador (Chrome, Firefox...)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Servidor: Apache · Nginx · IIS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75219" y="7645774"/>
            <a:ext cx="10312360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Códigos: 2xx correcto  · 3xx redirección · 4xx error cliente  · 5xx error servidor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HTTP no guarda estado → cookies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HTTPS = HTTP + SSL/TLS (puerto 443, HTTP: 80)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181225" y="828246"/>
            <a:ext cx="812708" cy="8127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0000" y="4846641"/>
            <a:ext cx="7914639" cy="3737341"/>
            <a:chOff x="0" y="0"/>
            <a:chExt cx="2084514" cy="984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4514" cy="984320"/>
            </a:xfrm>
            <a:custGeom>
              <a:avLst/>
              <a:gdLst/>
              <a:ahLst/>
              <a:cxnLst/>
              <a:rect r="r" b="b" t="t" l="l"/>
              <a:pathLst>
                <a:path h="984320" w="2084514">
                  <a:moveTo>
                    <a:pt x="49887" y="0"/>
                  </a:moveTo>
                  <a:lnTo>
                    <a:pt x="2034627" y="0"/>
                  </a:lnTo>
                  <a:cubicBezTo>
                    <a:pt x="2062179" y="0"/>
                    <a:pt x="2084514" y="22335"/>
                    <a:pt x="2084514" y="49887"/>
                  </a:cubicBezTo>
                  <a:lnTo>
                    <a:pt x="2084514" y="934433"/>
                  </a:lnTo>
                  <a:cubicBezTo>
                    <a:pt x="2084514" y="961985"/>
                    <a:pt x="2062179" y="984320"/>
                    <a:pt x="2034627" y="984320"/>
                  </a:cubicBezTo>
                  <a:lnTo>
                    <a:pt x="49887" y="984320"/>
                  </a:lnTo>
                  <a:cubicBezTo>
                    <a:pt x="22335" y="984320"/>
                    <a:pt x="0" y="961985"/>
                    <a:pt x="0" y="934433"/>
                  </a:cubicBezTo>
                  <a:lnTo>
                    <a:pt x="0" y="49887"/>
                  </a:lnTo>
                  <a:cubicBezTo>
                    <a:pt x="0" y="22335"/>
                    <a:pt x="22335" y="0"/>
                    <a:pt x="49887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84514" cy="1041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1457" y="4780179"/>
            <a:ext cx="3265957" cy="132924"/>
            <a:chOff x="0" y="0"/>
            <a:chExt cx="860170" cy="350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0170" cy="35009"/>
            </a:xfrm>
            <a:custGeom>
              <a:avLst/>
              <a:gdLst/>
              <a:ahLst/>
              <a:cxnLst/>
              <a:rect r="r" b="b" t="t" l="l"/>
              <a:pathLst>
                <a:path h="35009" w="860170">
                  <a:moveTo>
                    <a:pt x="17504" y="0"/>
                  </a:moveTo>
                  <a:lnTo>
                    <a:pt x="842665" y="0"/>
                  </a:lnTo>
                  <a:cubicBezTo>
                    <a:pt x="852333" y="0"/>
                    <a:pt x="860170" y="7837"/>
                    <a:pt x="860170" y="17504"/>
                  </a:cubicBezTo>
                  <a:lnTo>
                    <a:pt x="860170" y="17504"/>
                  </a:lnTo>
                  <a:cubicBezTo>
                    <a:pt x="860170" y="27172"/>
                    <a:pt x="852333" y="35009"/>
                    <a:pt x="842665" y="35009"/>
                  </a:cubicBezTo>
                  <a:lnTo>
                    <a:pt x="17504" y="35009"/>
                  </a:lnTo>
                  <a:cubicBezTo>
                    <a:pt x="7837" y="35009"/>
                    <a:pt x="0" y="27172"/>
                    <a:pt x="0" y="17504"/>
                  </a:cubicBezTo>
                  <a:lnTo>
                    <a:pt x="0" y="17504"/>
                  </a:lnTo>
                  <a:cubicBezTo>
                    <a:pt x="0" y="7837"/>
                    <a:pt x="7837" y="0"/>
                    <a:pt x="175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60170" cy="92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14634" y="1959276"/>
            <a:ext cx="5357079" cy="7299024"/>
            <a:chOff x="0" y="0"/>
            <a:chExt cx="1410918" cy="19223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0918" cy="1922377"/>
            </a:xfrm>
            <a:custGeom>
              <a:avLst/>
              <a:gdLst/>
              <a:ahLst/>
              <a:cxnLst/>
              <a:rect r="r" b="b" t="t" l="l"/>
              <a:pathLst>
                <a:path h="1922377" w="1410918">
                  <a:moveTo>
                    <a:pt x="73704" y="0"/>
                  </a:moveTo>
                  <a:lnTo>
                    <a:pt x="1337214" y="0"/>
                  </a:lnTo>
                  <a:cubicBezTo>
                    <a:pt x="1377919" y="0"/>
                    <a:pt x="1410918" y="32998"/>
                    <a:pt x="1410918" y="73704"/>
                  </a:cubicBezTo>
                  <a:lnTo>
                    <a:pt x="1410918" y="1848673"/>
                  </a:lnTo>
                  <a:cubicBezTo>
                    <a:pt x="1410918" y="1868220"/>
                    <a:pt x="1403153" y="1886967"/>
                    <a:pt x="1389331" y="1900789"/>
                  </a:cubicBezTo>
                  <a:cubicBezTo>
                    <a:pt x="1375508" y="1914612"/>
                    <a:pt x="1356761" y="1922377"/>
                    <a:pt x="1337214" y="1922377"/>
                  </a:cubicBezTo>
                  <a:lnTo>
                    <a:pt x="73704" y="1922377"/>
                  </a:lnTo>
                  <a:cubicBezTo>
                    <a:pt x="32998" y="1922377"/>
                    <a:pt x="0" y="1889378"/>
                    <a:pt x="0" y="1848673"/>
                  </a:cubicBezTo>
                  <a:lnTo>
                    <a:pt x="0" y="73704"/>
                  </a:lnTo>
                  <a:cubicBezTo>
                    <a:pt x="0" y="32998"/>
                    <a:pt x="32998" y="0"/>
                    <a:pt x="737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10918" cy="19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92725" y="2941964"/>
            <a:ext cx="6400897" cy="5333648"/>
            <a:chOff x="0" y="0"/>
            <a:chExt cx="1351455" cy="1126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1455" cy="1126121"/>
            </a:xfrm>
            <a:custGeom>
              <a:avLst/>
              <a:gdLst/>
              <a:ahLst/>
              <a:cxnLst/>
              <a:rect r="r" b="b" t="t" l="l"/>
              <a:pathLst>
                <a:path h="1126121" w="1351455">
                  <a:moveTo>
                    <a:pt x="60475" y="0"/>
                  </a:moveTo>
                  <a:lnTo>
                    <a:pt x="1290979" y="0"/>
                  </a:lnTo>
                  <a:cubicBezTo>
                    <a:pt x="1324379" y="0"/>
                    <a:pt x="1351455" y="27076"/>
                    <a:pt x="1351455" y="60475"/>
                  </a:cubicBezTo>
                  <a:lnTo>
                    <a:pt x="1351455" y="1065646"/>
                  </a:lnTo>
                  <a:cubicBezTo>
                    <a:pt x="1351455" y="1099045"/>
                    <a:pt x="1324379" y="1126121"/>
                    <a:pt x="1290979" y="1126121"/>
                  </a:cubicBezTo>
                  <a:lnTo>
                    <a:pt x="60475" y="1126121"/>
                  </a:lnTo>
                  <a:cubicBezTo>
                    <a:pt x="27076" y="1126121"/>
                    <a:pt x="0" y="1099045"/>
                    <a:pt x="0" y="1065646"/>
                  </a:cubicBezTo>
                  <a:lnTo>
                    <a:pt x="0" y="60475"/>
                  </a:lnTo>
                  <a:cubicBezTo>
                    <a:pt x="0" y="27076"/>
                    <a:pt x="27076" y="0"/>
                    <a:pt x="60475" y="0"/>
                  </a:cubicBezTo>
                  <a:close/>
                </a:path>
              </a:pathLst>
            </a:custGeom>
            <a:blipFill>
              <a:blip r:embed="rId2"/>
              <a:stretch>
                <a:fillRect l="-196" t="0" r="-19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74278" y="7152938"/>
            <a:ext cx="1750857" cy="175085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5400000">
            <a:off x="16301658" y="6270333"/>
            <a:ext cx="812708" cy="81270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073307" y="2256746"/>
            <a:ext cx="2213550" cy="221355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5992" y="4737146"/>
            <a:ext cx="812708" cy="81270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30000" y="2633594"/>
            <a:ext cx="81369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39"/>
              </a:lnSpc>
            </a:pPr>
            <a:r>
              <a:rPr lang="en-US" sz="73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Introducción a FTP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11457" y="5241012"/>
            <a:ext cx="670998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Protocolo para transferencia de archivos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Funciona sobre TCP/IP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Permite subir y descargar archivos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11457" y="6928842"/>
            <a:ext cx="670998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Usado en despliegue y mantenimiento web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Conexión entre cliente y servidor de archivos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82318" y="2966068"/>
            <a:ext cx="8577457" cy="4901404"/>
          </a:xfrm>
          <a:custGeom>
            <a:avLst/>
            <a:gdLst/>
            <a:ahLst/>
            <a:cxnLst/>
            <a:rect r="r" b="b" t="t" l="l"/>
            <a:pathLst>
              <a:path h="4901404" w="8577457">
                <a:moveTo>
                  <a:pt x="0" y="0"/>
                </a:moveTo>
                <a:lnTo>
                  <a:pt x="8577457" y="0"/>
                </a:lnTo>
                <a:lnTo>
                  <a:pt x="8577457" y="4901404"/>
                </a:lnTo>
                <a:lnTo>
                  <a:pt x="0" y="4901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739" y="471488"/>
            <a:ext cx="89340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39"/>
              </a:lnSpc>
            </a:pPr>
            <a:r>
              <a:rPr lang="en-US" sz="736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Cómo funciona FTP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4739" y="2410686"/>
            <a:ext cx="7753453" cy="581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Primero, el cliente se conecta al servidor FTP y se autentica mediante un usuario y una contraseña.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Una vez autenticado, podrá subir y descargar archivos, así como gestionar carpetas, siempre que disponga de los permisos necesarios.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Además, el servidor puede limitar las acciones que puede realizar cada usuario y restringir su acceso a determinadas carpetas, permitiéndole disponer de un espacio personal.</a:t>
            </a:r>
          </a:p>
          <a:p>
            <a:pPr algn="l">
              <a:lnSpc>
                <a:spcPts val="3079"/>
              </a:lnSpc>
            </a:pPr>
          </a:p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FTP utiliza principalmente dos puertos. El puerto 21 se utiliza para la conexión de control y el puerto 20 se utiliza para la transferencia de datos cuando se utiliza el modo activo.</a:t>
            </a:r>
          </a:p>
          <a:p>
            <a:pPr algn="l" marL="0" indent="0" lvl="0">
              <a:lnSpc>
                <a:spcPts val="28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6985411" y="-1074364"/>
            <a:ext cx="2148728" cy="214872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2721283"/>
            <a:ext cx="966347" cy="9663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97091" y="6180635"/>
            <a:ext cx="1994181" cy="19941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41365" y="8421205"/>
            <a:ext cx="1674189" cy="167418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1C6B">
                <a:alpha val="100000"/>
              </a:srgbClr>
            </a:gs>
            <a:gs pos="100000">
              <a:srgbClr val="07033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1515" y="6938244"/>
            <a:ext cx="2742514" cy="2320056"/>
            <a:chOff x="0" y="0"/>
            <a:chExt cx="722308" cy="611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2308" cy="611043"/>
            </a:xfrm>
            <a:custGeom>
              <a:avLst/>
              <a:gdLst/>
              <a:ahLst/>
              <a:cxnLst/>
              <a:rect r="r" b="b" t="t" l="l"/>
              <a:pathLst>
                <a:path h="611043" w="722308">
                  <a:moveTo>
                    <a:pt x="84688" y="0"/>
                  </a:moveTo>
                  <a:lnTo>
                    <a:pt x="637620" y="0"/>
                  </a:lnTo>
                  <a:cubicBezTo>
                    <a:pt x="684392" y="0"/>
                    <a:pt x="722308" y="37916"/>
                    <a:pt x="722308" y="84688"/>
                  </a:cubicBezTo>
                  <a:lnTo>
                    <a:pt x="722308" y="526356"/>
                  </a:lnTo>
                  <a:cubicBezTo>
                    <a:pt x="722308" y="548816"/>
                    <a:pt x="713386" y="570357"/>
                    <a:pt x="697504" y="586239"/>
                  </a:cubicBezTo>
                  <a:cubicBezTo>
                    <a:pt x="681622" y="602121"/>
                    <a:pt x="660081" y="611043"/>
                    <a:pt x="637620" y="611043"/>
                  </a:cubicBezTo>
                  <a:lnTo>
                    <a:pt x="84688" y="611043"/>
                  </a:lnTo>
                  <a:cubicBezTo>
                    <a:pt x="62227" y="611043"/>
                    <a:pt x="40687" y="602121"/>
                    <a:pt x="24804" y="586239"/>
                  </a:cubicBezTo>
                  <a:cubicBezTo>
                    <a:pt x="8922" y="570357"/>
                    <a:pt x="0" y="548816"/>
                    <a:pt x="0" y="526356"/>
                  </a:cubicBezTo>
                  <a:lnTo>
                    <a:pt x="0" y="84688"/>
                  </a:lnTo>
                  <a:cubicBezTo>
                    <a:pt x="0" y="62227"/>
                    <a:pt x="8922" y="40687"/>
                    <a:pt x="24804" y="24804"/>
                  </a:cubicBezTo>
                  <a:cubicBezTo>
                    <a:pt x="40687" y="8922"/>
                    <a:pt x="62227" y="0"/>
                    <a:pt x="8468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230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89681" y="6495599"/>
            <a:ext cx="885291" cy="8852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68535" y="6938244"/>
            <a:ext cx="2742514" cy="2320056"/>
            <a:chOff x="0" y="0"/>
            <a:chExt cx="722308" cy="6110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308" cy="611043"/>
            </a:xfrm>
            <a:custGeom>
              <a:avLst/>
              <a:gdLst/>
              <a:ahLst/>
              <a:cxnLst/>
              <a:rect r="r" b="b" t="t" l="l"/>
              <a:pathLst>
                <a:path h="611043" w="722308">
                  <a:moveTo>
                    <a:pt x="84688" y="0"/>
                  </a:moveTo>
                  <a:lnTo>
                    <a:pt x="637620" y="0"/>
                  </a:lnTo>
                  <a:cubicBezTo>
                    <a:pt x="684392" y="0"/>
                    <a:pt x="722308" y="37916"/>
                    <a:pt x="722308" y="84688"/>
                  </a:cubicBezTo>
                  <a:lnTo>
                    <a:pt x="722308" y="526356"/>
                  </a:lnTo>
                  <a:cubicBezTo>
                    <a:pt x="722308" y="548816"/>
                    <a:pt x="713386" y="570357"/>
                    <a:pt x="697504" y="586239"/>
                  </a:cubicBezTo>
                  <a:cubicBezTo>
                    <a:pt x="681622" y="602121"/>
                    <a:pt x="660081" y="611043"/>
                    <a:pt x="637620" y="611043"/>
                  </a:cubicBezTo>
                  <a:lnTo>
                    <a:pt x="84688" y="611043"/>
                  </a:lnTo>
                  <a:cubicBezTo>
                    <a:pt x="62227" y="611043"/>
                    <a:pt x="40687" y="602121"/>
                    <a:pt x="24804" y="586239"/>
                  </a:cubicBezTo>
                  <a:cubicBezTo>
                    <a:pt x="8922" y="570357"/>
                    <a:pt x="0" y="548816"/>
                    <a:pt x="0" y="526356"/>
                  </a:cubicBezTo>
                  <a:lnTo>
                    <a:pt x="0" y="84688"/>
                  </a:lnTo>
                  <a:cubicBezTo>
                    <a:pt x="0" y="62227"/>
                    <a:pt x="8922" y="40687"/>
                    <a:pt x="24804" y="24804"/>
                  </a:cubicBezTo>
                  <a:cubicBezTo>
                    <a:pt x="40687" y="8922"/>
                    <a:pt x="62227" y="0"/>
                    <a:pt x="8468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2230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96799" y="6938244"/>
            <a:ext cx="2742514" cy="2320056"/>
            <a:chOff x="0" y="0"/>
            <a:chExt cx="722308" cy="611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2308" cy="611043"/>
            </a:xfrm>
            <a:custGeom>
              <a:avLst/>
              <a:gdLst/>
              <a:ahLst/>
              <a:cxnLst/>
              <a:rect r="r" b="b" t="t" l="l"/>
              <a:pathLst>
                <a:path h="611043" w="722308">
                  <a:moveTo>
                    <a:pt x="84688" y="0"/>
                  </a:moveTo>
                  <a:lnTo>
                    <a:pt x="637620" y="0"/>
                  </a:lnTo>
                  <a:cubicBezTo>
                    <a:pt x="684392" y="0"/>
                    <a:pt x="722308" y="37916"/>
                    <a:pt x="722308" y="84688"/>
                  </a:cubicBezTo>
                  <a:lnTo>
                    <a:pt x="722308" y="526356"/>
                  </a:lnTo>
                  <a:cubicBezTo>
                    <a:pt x="722308" y="548816"/>
                    <a:pt x="713386" y="570357"/>
                    <a:pt x="697504" y="586239"/>
                  </a:cubicBezTo>
                  <a:cubicBezTo>
                    <a:pt x="681622" y="602121"/>
                    <a:pt x="660081" y="611043"/>
                    <a:pt x="637620" y="611043"/>
                  </a:cubicBezTo>
                  <a:lnTo>
                    <a:pt x="84688" y="611043"/>
                  </a:lnTo>
                  <a:cubicBezTo>
                    <a:pt x="62227" y="611043"/>
                    <a:pt x="40687" y="602121"/>
                    <a:pt x="24804" y="586239"/>
                  </a:cubicBezTo>
                  <a:cubicBezTo>
                    <a:pt x="8922" y="570357"/>
                    <a:pt x="0" y="548816"/>
                    <a:pt x="0" y="526356"/>
                  </a:cubicBezTo>
                  <a:lnTo>
                    <a:pt x="0" y="84688"/>
                  </a:lnTo>
                  <a:cubicBezTo>
                    <a:pt x="0" y="62227"/>
                    <a:pt x="8922" y="40687"/>
                    <a:pt x="24804" y="24804"/>
                  </a:cubicBezTo>
                  <a:cubicBezTo>
                    <a:pt x="40687" y="8922"/>
                    <a:pt x="62227" y="0"/>
                    <a:pt x="8468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22308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16701" y="6495599"/>
            <a:ext cx="885291" cy="8852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43720" y="6495599"/>
            <a:ext cx="885291" cy="8852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65717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19" y="0"/>
                </a:lnTo>
                <a:lnTo>
                  <a:pt x="333219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192736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19756" y="6806917"/>
            <a:ext cx="333220" cy="262656"/>
          </a:xfrm>
          <a:custGeom>
            <a:avLst/>
            <a:gdLst/>
            <a:ahLst/>
            <a:cxnLst/>
            <a:rect r="r" b="b" t="t" l="l"/>
            <a:pathLst>
              <a:path h="262656" w="333220">
                <a:moveTo>
                  <a:pt x="0" y="0"/>
                </a:moveTo>
                <a:lnTo>
                  <a:pt x="333220" y="0"/>
                </a:lnTo>
                <a:lnTo>
                  <a:pt x="333220" y="262655"/>
                </a:lnTo>
                <a:lnTo>
                  <a:pt x="0" y="26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829963" y="1959276"/>
            <a:ext cx="3204710" cy="7299024"/>
            <a:chOff x="0" y="0"/>
            <a:chExt cx="844039" cy="19223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4039" cy="1922377"/>
            </a:xfrm>
            <a:custGeom>
              <a:avLst/>
              <a:gdLst/>
              <a:ahLst/>
              <a:cxnLst/>
              <a:rect r="r" b="b" t="t" l="l"/>
              <a:pathLst>
                <a:path h="1922377" w="844039">
                  <a:moveTo>
                    <a:pt x="123206" y="0"/>
                  </a:moveTo>
                  <a:lnTo>
                    <a:pt x="720833" y="0"/>
                  </a:lnTo>
                  <a:cubicBezTo>
                    <a:pt x="788878" y="0"/>
                    <a:pt x="844039" y="55161"/>
                    <a:pt x="844039" y="123206"/>
                  </a:cubicBezTo>
                  <a:lnTo>
                    <a:pt x="844039" y="1799171"/>
                  </a:lnTo>
                  <a:cubicBezTo>
                    <a:pt x="844039" y="1867216"/>
                    <a:pt x="788878" y="1922377"/>
                    <a:pt x="720833" y="1922377"/>
                  </a:cubicBezTo>
                  <a:lnTo>
                    <a:pt x="123206" y="1922377"/>
                  </a:lnTo>
                  <a:cubicBezTo>
                    <a:pt x="55161" y="1922377"/>
                    <a:pt x="0" y="1867216"/>
                    <a:pt x="0" y="1799171"/>
                  </a:cubicBezTo>
                  <a:lnTo>
                    <a:pt x="0" y="123206"/>
                  </a:lnTo>
                  <a:cubicBezTo>
                    <a:pt x="0" y="55161"/>
                    <a:pt x="55161" y="0"/>
                    <a:pt x="1232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44039" cy="19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85679" y="2556033"/>
            <a:ext cx="3699318" cy="3709191"/>
            <a:chOff x="0" y="0"/>
            <a:chExt cx="1562113" cy="15662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62113" cy="1566282"/>
            </a:xfrm>
            <a:custGeom>
              <a:avLst/>
              <a:gdLst/>
              <a:ahLst/>
              <a:cxnLst/>
              <a:rect r="r" b="b" t="t" l="l"/>
              <a:pathLst>
                <a:path h="1566282" w="1562113">
                  <a:moveTo>
                    <a:pt x="104640" y="0"/>
                  </a:moveTo>
                  <a:lnTo>
                    <a:pt x="1457473" y="0"/>
                  </a:lnTo>
                  <a:cubicBezTo>
                    <a:pt x="1485225" y="0"/>
                    <a:pt x="1511841" y="11025"/>
                    <a:pt x="1531464" y="30648"/>
                  </a:cubicBezTo>
                  <a:cubicBezTo>
                    <a:pt x="1551088" y="50272"/>
                    <a:pt x="1562113" y="76888"/>
                    <a:pt x="1562113" y="104640"/>
                  </a:cubicBezTo>
                  <a:lnTo>
                    <a:pt x="1562113" y="1461642"/>
                  </a:lnTo>
                  <a:cubicBezTo>
                    <a:pt x="1562113" y="1489394"/>
                    <a:pt x="1551088" y="1516010"/>
                    <a:pt x="1531464" y="1535633"/>
                  </a:cubicBezTo>
                  <a:cubicBezTo>
                    <a:pt x="1511841" y="1555257"/>
                    <a:pt x="1485225" y="1566282"/>
                    <a:pt x="1457473" y="1566282"/>
                  </a:cubicBezTo>
                  <a:lnTo>
                    <a:pt x="104640" y="1566282"/>
                  </a:lnTo>
                  <a:cubicBezTo>
                    <a:pt x="76888" y="1566282"/>
                    <a:pt x="50272" y="1555257"/>
                    <a:pt x="30648" y="1535633"/>
                  </a:cubicBezTo>
                  <a:cubicBezTo>
                    <a:pt x="11025" y="1516010"/>
                    <a:pt x="0" y="1489394"/>
                    <a:pt x="0" y="1461642"/>
                  </a:cubicBezTo>
                  <a:lnTo>
                    <a:pt x="0" y="104640"/>
                  </a:lnTo>
                  <a:cubicBezTo>
                    <a:pt x="0" y="76888"/>
                    <a:pt x="11025" y="50272"/>
                    <a:pt x="30648" y="30648"/>
                  </a:cubicBezTo>
                  <a:cubicBezTo>
                    <a:pt x="50272" y="11025"/>
                    <a:pt x="76888" y="0"/>
                    <a:pt x="10464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20844" y="4897872"/>
            <a:ext cx="3699318" cy="3709191"/>
            <a:chOff x="0" y="0"/>
            <a:chExt cx="1562113" cy="15662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62113" cy="1566282"/>
            </a:xfrm>
            <a:custGeom>
              <a:avLst/>
              <a:gdLst/>
              <a:ahLst/>
              <a:cxnLst/>
              <a:rect r="r" b="b" t="t" l="l"/>
              <a:pathLst>
                <a:path h="1566282" w="1562113">
                  <a:moveTo>
                    <a:pt x="104640" y="0"/>
                  </a:moveTo>
                  <a:lnTo>
                    <a:pt x="1457473" y="0"/>
                  </a:lnTo>
                  <a:cubicBezTo>
                    <a:pt x="1485225" y="0"/>
                    <a:pt x="1511841" y="11025"/>
                    <a:pt x="1531464" y="30648"/>
                  </a:cubicBezTo>
                  <a:cubicBezTo>
                    <a:pt x="1551088" y="50272"/>
                    <a:pt x="1562113" y="76888"/>
                    <a:pt x="1562113" y="104640"/>
                  </a:cubicBezTo>
                  <a:lnTo>
                    <a:pt x="1562113" y="1461642"/>
                  </a:lnTo>
                  <a:cubicBezTo>
                    <a:pt x="1562113" y="1489394"/>
                    <a:pt x="1551088" y="1516010"/>
                    <a:pt x="1531464" y="1535633"/>
                  </a:cubicBezTo>
                  <a:cubicBezTo>
                    <a:pt x="1511841" y="1555257"/>
                    <a:pt x="1485225" y="1566282"/>
                    <a:pt x="1457473" y="1566282"/>
                  </a:cubicBezTo>
                  <a:lnTo>
                    <a:pt x="104640" y="1566282"/>
                  </a:lnTo>
                  <a:cubicBezTo>
                    <a:pt x="76888" y="1566282"/>
                    <a:pt x="50272" y="1555257"/>
                    <a:pt x="30648" y="1535633"/>
                  </a:cubicBezTo>
                  <a:cubicBezTo>
                    <a:pt x="11025" y="1516010"/>
                    <a:pt x="0" y="1489394"/>
                    <a:pt x="0" y="1461642"/>
                  </a:cubicBezTo>
                  <a:lnTo>
                    <a:pt x="0" y="104640"/>
                  </a:lnTo>
                  <a:cubicBezTo>
                    <a:pt x="0" y="76888"/>
                    <a:pt x="11025" y="50272"/>
                    <a:pt x="30648" y="30648"/>
                  </a:cubicBezTo>
                  <a:cubicBezTo>
                    <a:pt x="50272" y="11025"/>
                    <a:pt x="76888" y="0"/>
                    <a:pt x="10464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4" r="0" b="-5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957891" y="1653383"/>
            <a:ext cx="2213550" cy="221355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425323" y="7069572"/>
            <a:ext cx="833977" cy="83397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62441" y="3626819"/>
            <a:ext cx="833977" cy="83397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-1169067" y="8747601"/>
            <a:ext cx="2213550" cy="221355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648043" y="3318033"/>
            <a:ext cx="6741058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</a:pPr>
            <a:r>
              <a:rPr lang="en-US" sz="652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Almacenamiento y Acceso Remoto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1515" y="2556033"/>
            <a:ext cx="795080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95"/>
              </a:lnSpc>
            </a:pPr>
            <a:r>
              <a:rPr lang="en-US" sz="4996">
                <a:solidFill>
                  <a:srgbClr val="E739A2"/>
                </a:solidFill>
                <a:latin typeface="DM Sans"/>
                <a:ea typeface="DM Sans"/>
                <a:cs typeface="DM Sans"/>
                <a:sym typeface="DM Sans"/>
              </a:rPr>
              <a:t>Servidores FTP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89681" y="7705756"/>
            <a:ext cx="2167874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b="true" sz="2249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vsftpd y ProFTPD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916701" y="7705756"/>
            <a:ext cx="1639984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b="true" sz="2249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Usuarios y Permisos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44965" y="7705756"/>
            <a:ext cx="1734464" cy="116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b="true" sz="2249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Acceso Anónimo o Autenticado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3204" y="7375079"/>
            <a:ext cx="6712556" cy="47767"/>
            <a:chOff x="0" y="0"/>
            <a:chExt cx="1767916" cy="125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7916" cy="12581"/>
            </a:xfrm>
            <a:custGeom>
              <a:avLst/>
              <a:gdLst/>
              <a:ahLst/>
              <a:cxnLst/>
              <a:rect r="r" b="b" t="t" l="l"/>
              <a:pathLst>
                <a:path h="12581" w="1767916">
                  <a:moveTo>
                    <a:pt x="6290" y="0"/>
                  </a:moveTo>
                  <a:lnTo>
                    <a:pt x="1761626" y="0"/>
                  </a:lnTo>
                  <a:cubicBezTo>
                    <a:pt x="1765100" y="0"/>
                    <a:pt x="1767916" y="2816"/>
                    <a:pt x="1767916" y="6290"/>
                  </a:cubicBezTo>
                  <a:lnTo>
                    <a:pt x="1767916" y="6290"/>
                  </a:lnTo>
                  <a:cubicBezTo>
                    <a:pt x="1767916" y="9764"/>
                    <a:pt x="1765100" y="12581"/>
                    <a:pt x="1761626" y="12581"/>
                  </a:cubicBezTo>
                  <a:lnTo>
                    <a:pt x="6290" y="12581"/>
                  </a:lnTo>
                  <a:cubicBezTo>
                    <a:pt x="2816" y="12581"/>
                    <a:pt x="0" y="9764"/>
                    <a:pt x="0" y="6290"/>
                  </a:cubicBezTo>
                  <a:lnTo>
                    <a:pt x="0" y="6290"/>
                  </a:lnTo>
                  <a:cubicBezTo>
                    <a:pt x="0" y="2816"/>
                    <a:pt x="2816" y="0"/>
                    <a:pt x="62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67916" cy="69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5898" y="2734907"/>
            <a:ext cx="6677363" cy="6227544"/>
            <a:chOff x="0" y="0"/>
            <a:chExt cx="1409827" cy="1314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9827" cy="1314854"/>
            </a:xfrm>
            <a:custGeom>
              <a:avLst/>
              <a:gdLst/>
              <a:ahLst/>
              <a:cxnLst/>
              <a:rect r="r" b="b" t="t" l="l"/>
              <a:pathLst>
                <a:path h="1314854" w="1409827">
                  <a:moveTo>
                    <a:pt x="26667" y="0"/>
                  </a:moveTo>
                  <a:lnTo>
                    <a:pt x="1383160" y="0"/>
                  </a:lnTo>
                  <a:cubicBezTo>
                    <a:pt x="1390232" y="0"/>
                    <a:pt x="1397015" y="2810"/>
                    <a:pt x="1402016" y="7811"/>
                  </a:cubicBezTo>
                  <a:cubicBezTo>
                    <a:pt x="1407017" y="12812"/>
                    <a:pt x="1409827" y="19594"/>
                    <a:pt x="1409827" y="26667"/>
                  </a:cubicBezTo>
                  <a:lnTo>
                    <a:pt x="1409827" y="1288187"/>
                  </a:lnTo>
                  <a:cubicBezTo>
                    <a:pt x="1409827" y="1295260"/>
                    <a:pt x="1407017" y="1302042"/>
                    <a:pt x="1402016" y="1307043"/>
                  </a:cubicBezTo>
                  <a:cubicBezTo>
                    <a:pt x="1397015" y="1312044"/>
                    <a:pt x="1390232" y="1314854"/>
                    <a:pt x="1383160" y="1314854"/>
                  </a:cubicBezTo>
                  <a:lnTo>
                    <a:pt x="26667" y="1314854"/>
                  </a:lnTo>
                  <a:cubicBezTo>
                    <a:pt x="19594" y="1314854"/>
                    <a:pt x="12812" y="1312044"/>
                    <a:pt x="7811" y="1307043"/>
                  </a:cubicBezTo>
                  <a:cubicBezTo>
                    <a:pt x="2810" y="1302042"/>
                    <a:pt x="0" y="1295260"/>
                    <a:pt x="0" y="1288187"/>
                  </a:cubicBezTo>
                  <a:lnTo>
                    <a:pt x="0" y="26667"/>
                  </a:lnTo>
                  <a:cubicBezTo>
                    <a:pt x="0" y="19594"/>
                    <a:pt x="2810" y="12812"/>
                    <a:pt x="7811" y="7811"/>
                  </a:cubicBezTo>
                  <a:cubicBezTo>
                    <a:pt x="12812" y="2810"/>
                    <a:pt x="19594" y="0"/>
                    <a:pt x="26667" y="0"/>
                  </a:cubicBezTo>
                  <a:close/>
                </a:path>
              </a:pathLst>
            </a:custGeom>
            <a:blipFill>
              <a:blip r:embed="rId2"/>
              <a:stretch>
                <a:fillRect l="-412" t="0" r="-41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243960"/>
            <a:ext cx="3061346" cy="4200334"/>
            <a:chOff x="0" y="0"/>
            <a:chExt cx="646358" cy="8868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6358" cy="886839"/>
            </a:xfrm>
            <a:custGeom>
              <a:avLst/>
              <a:gdLst/>
              <a:ahLst/>
              <a:cxnLst/>
              <a:rect r="r" b="b" t="t" l="l"/>
              <a:pathLst>
                <a:path h="886839" w="646358">
                  <a:moveTo>
                    <a:pt x="58165" y="0"/>
                  </a:moveTo>
                  <a:lnTo>
                    <a:pt x="588193" y="0"/>
                  </a:lnTo>
                  <a:cubicBezTo>
                    <a:pt x="603619" y="0"/>
                    <a:pt x="618414" y="6128"/>
                    <a:pt x="629322" y="17036"/>
                  </a:cubicBezTo>
                  <a:cubicBezTo>
                    <a:pt x="640230" y="27944"/>
                    <a:pt x="646358" y="42739"/>
                    <a:pt x="646358" y="58165"/>
                  </a:cubicBezTo>
                  <a:lnTo>
                    <a:pt x="646358" y="828673"/>
                  </a:lnTo>
                  <a:cubicBezTo>
                    <a:pt x="646358" y="844100"/>
                    <a:pt x="640230" y="858894"/>
                    <a:pt x="629322" y="869802"/>
                  </a:cubicBezTo>
                  <a:cubicBezTo>
                    <a:pt x="618414" y="880710"/>
                    <a:pt x="603619" y="886839"/>
                    <a:pt x="588193" y="886839"/>
                  </a:cubicBezTo>
                  <a:lnTo>
                    <a:pt x="58165" y="886839"/>
                  </a:lnTo>
                  <a:cubicBezTo>
                    <a:pt x="42739" y="886839"/>
                    <a:pt x="27944" y="880710"/>
                    <a:pt x="17036" y="869802"/>
                  </a:cubicBezTo>
                  <a:cubicBezTo>
                    <a:pt x="6128" y="858894"/>
                    <a:pt x="0" y="844100"/>
                    <a:pt x="0" y="828673"/>
                  </a:cubicBezTo>
                  <a:lnTo>
                    <a:pt x="0" y="58165"/>
                  </a:lnTo>
                  <a:cubicBezTo>
                    <a:pt x="0" y="42739"/>
                    <a:pt x="6128" y="27944"/>
                    <a:pt x="17036" y="17036"/>
                  </a:cubicBezTo>
                  <a:cubicBezTo>
                    <a:pt x="27944" y="6128"/>
                    <a:pt x="42739" y="0"/>
                    <a:pt x="58165" y="0"/>
                  </a:cubicBezTo>
                  <a:close/>
                </a:path>
              </a:pathLst>
            </a:custGeom>
            <a:blipFill>
              <a:blip r:embed="rId3"/>
              <a:stretch>
                <a:fillRect l="-251" t="0" r="-25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073307" y="6922376"/>
            <a:ext cx="2213550" cy="22135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5990" y="1837606"/>
            <a:ext cx="812708" cy="8127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65782" y="8192028"/>
            <a:ext cx="1540845" cy="15408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16908" y="6444294"/>
            <a:ext cx="812708" cy="81270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7200275" y="1640954"/>
            <a:ext cx="2213550" cy="221355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303204" y="2709747"/>
            <a:ext cx="5563553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sz="79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Clientes FTP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05780" y="5288867"/>
            <a:ext cx="6536304" cy="166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sz="23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Herramientas para conectar a servidores FTP</a:t>
            </a:r>
          </a:p>
          <a:p>
            <a:pPr algn="l" marL="0" indent="0" lvl="0">
              <a:lnSpc>
                <a:spcPts val="3358"/>
              </a:lnSpc>
            </a:pPr>
            <a:r>
              <a:rPr lang="en-US" sz="23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Programas: FileZilla, WinSCP, Cyberduck</a:t>
            </a:r>
          </a:p>
          <a:p>
            <a:pPr algn="l" marL="0" indent="0" lvl="0">
              <a:lnSpc>
                <a:spcPts val="3358"/>
              </a:lnSpc>
            </a:pPr>
            <a:r>
              <a:rPr lang="en-US" sz="23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Interfaz para subir y bajar archivos</a:t>
            </a:r>
          </a:p>
          <a:p>
            <a:pPr algn="l" marL="0" indent="0" lvl="0">
              <a:lnSpc>
                <a:spcPts val="3358"/>
              </a:lnSpc>
            </a:pPr>
            <a:r>
              <a:rPr lang="en-US" sz="23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Uso gráfico y por línea de comandos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05780" y="8013254"/>
            <a:ext cx="1849770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Clave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42800" y="8013254"/>
            <a:ext cx="4661793" cy="40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sz="23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Transferencia intuitiva y eficiente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7007" y="2700015"/>
            <a:ext cx="8307728" cy="5649750"/>
          </a:xfrm>
          <a:custGeom>
            <a:avLst/>
            <a:gdLst/>
            <a:ahLst/>
            <a:cxnLst/>
            <a:rect r="r" b="b" t="t" l="l"/>
            <a:pathLst>
              <a:path h="5649750" w="8307728">
                <a:moveTo>
                  <a:pt x="0" y="0"/>
                </a:moveTo>
                <a:lnTo>
                  <a:pt x="8307728" y="0"/>
                </a:lnTo>
                <a:lnTo>
                  <a:pt x="8307728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1189"/>
            <a:ext cx="1509381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</a:pPr>
            <a:r>
              <a:rPr lang="en-US" sz="79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Seguridad en FTP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9001" y="2771530"/>
            <a:ext cx="8598307" cy="5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seguridad en FTP es uno de los temas más importantes de este apartado, ya que FTP no cifra las comunicaciones de forma predeterminada.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Esto significa que las credenciales, como el usuario y la contraseña, pueden viajar sin cifrar entre el cliente y el servidor, pudiendo ser interceptadas.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Por este motivo, existen alternativas que permiten realizar transferencias de archivos de forma más segura, como FTPS y SFTP, que veremos a continuación.</a:t>
            </a:r>
          </a:p>
          <a:p>
            <a:pPr algn="l" marL="0" indent="0" lvl="0">
              <a:lnSpc>
                <a:spcPts val="307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7080690" y="2414813"/>
            <a:ext cx="1207310" cy="12073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8154" y="8954798"/>
            <a:ext cx="2664405" cy="26644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78373" y="-1417141"/>
            <a:ext cx="2445841" cy="24458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32307" y="1698333"/>
            <a:ext cx="933354" cy="93335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151" y="3337024"/>
            <a:ext cx="6493683" cy="3215868"/>
            <a:chOff x="0" y="0"/>
            <a:chExt cx="8658244" cy="42878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368708"/>
              <a:ext cx="8658244" cy="9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 una buena opción para mantener la compatibilidad con sistemas FTP existentes.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865824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9"/>
                </a:lnSpc>
                <a:spcBef>
                  <a:spcPct val="0"/>
                </a:spcBef>
              </a:pPr>
              <a:r>
                <a:rPr lang="en-US" sz="34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FTPS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472846" y="1100216"/>
              <a:ext cx="7712552" cy="185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Mantiene el funcionamiento básico de FTP pero añade SSL (certificados digitales) para la seguridad. Este método cifra la comunicación entre el cliente y el servidor.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0" y="9258300"/>
            <a:ext cx="18288000" cy="0"/>
          </a:xfrm>
          <a:prstGeom prst="line">
            <a:avLst/>
          </a:prstGeom>
          <a:ln cap="flat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476309" y="3220421"/>
            <a:ext cx="6493683" cy="3449074"/>
            <a:chOff x="0" y="0"/>
            <a:chExt cx="8658244" cy="459876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679649"/>
              <a:ext cx="8658244" cy="91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 una buena manera de transferir archivos mediante SSH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865824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9"/>
                </a:lnSpc>
                <a:spcBef>
                  <a:spcPct val="0"/>
                </a:spcBef>
              </a:pPr>
              <a:r>
                <a:rPr lang="en-US" sz="34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SFTP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72846" y="1017458"/>
              <a:ext cx="7712552" cy="232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Significa SSH File Transfer Protocol y no es una versión de FTP, sino que es otro protocolo. Este protocolo funciona sobre SSH, la comunicación está cifrada y usa el mismo puerto que SSH, el 22.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-5400000">
            <a:off x="6184553" y="6300043"/>
            <a:ext cx="5926038" cy="0"/>
          </a:xfrm>
          <a:prstGeom prst="line">
            <a:avLst/>
          </a:prstGeom>
          <a:ln cap="rnd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3337024"/>
            <a:ext cx="18288000" cy="0"/>
          </a:xfrm>
          <a:prstGeom prst="line">
            <a:avLst/>
          </a:prstGeom>
          <a:ln cap="flat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10744" y="7022965"/>
            <a:ext cx="5922497" cy="2629845"/>
          </a:xfrm>
          <a:custGeom>
            <a:avLst/>
            <a:gdLst/>
            <a:ahLst/>
            <a:cxnLst/>
            <a:rect r="r" b="b" t="t" l="l"/>
            <a:pathLst>
              <a:path h="2629845" w="5922497">
                <a:moveTo>
                  <a:pt x="0" y="0"/>
                </a:moveTo>
                <a:lnTo>
                  <a:pt x="5922497" y="0"/>
                </a:lnTo>
                <a:lnTo>
                  <a:pt x="5922497" y="2629846"/>
                </a:lnTo>
                <a:lnTo>
                  <a:pt x="0" y="2629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22351" y="7022965"/>
            <a:ext cx="4415888" cy="2629845"/>
          </a:xfrm>
          <a:custGeom>
            <a:avLst/>
            <a:gdLst/>
            <a:ahLst/>
            <a:cxnLst/>
            <a:rect r="r" b="b" t="t" l="l"/>
            <a:pathLst>
              <a:path h="2629845" w="4415888">
                <a:moveTo>
                  <a:pt x="0" y="0"/>
                </a:moveTo>
                <a:lnTo>
                  <a:pt x="4415888" y="0"/>
                </a:lnTo>
                <a:lnTo>
                  <a:pt x="4415888" y="2629846"/>
                </a:lnTo>
                <a:lnTo>
                  <a:pt x="0" y="2629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" t="0" r="-12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35844" y="1028700"/>
            <a:ext cx="162306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Alternativas seguras a FTP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106775" y="8151525"/>
            <a:ext cx="2213550" cy="221355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0322" y="-215300"/>
            <a:ext cx="1540845" cy="154084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7266444" y="34350"/>
            <a:ext cx="2213550" cy="22135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206714" y="9516577"/>
            <a:ext cx="1540845" cy="154084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31747" y="6786099"/>
            <a:ext cx="974175" cy="97417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1C6B">
                <a:alpha val="100000"/>
              </a:srgbClr>
            </a:gs>
            <a:gs pos="100000">
              <a:srgbClr val="07033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0243" y="3430327"/>
            <a:ext cx="3188311" cy="78970"/>
            <a:chOff x="0" y="0"/>
            <a:chExt cx="839720" cy="20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9720" cy="20799"/>
            </a:xfrm>
            <a:custGeom>
              <a:avLst/>
              <a:gdLst/>
              <a:ahLst/>
              <a:cxnLst/>
              <a:rect r="r" b="b" t="t" l="l"/>
              <a:pathLst>
                <a:path h="20799" w="839720">
                  <a:moveTo>
                    <a:pt x="10399" y="0"/>
                  </a:moveTo>
                  <a:lnTo>
                    <a:pt x="829321" y="0"/>
                  </a:lnTo>
                  <a:cubicBezTo>
                    <a:pt x="835064" y="0"/>
                    <a:pt x="839720" y="4656"/>
                    <a:pt x="839720" y="10399"/>
                  </a:cubicBezTo>
                  <a:lnTo>
                    <a:pt x="839720" y="10399"/>
                  </a:lnTo>
                  <a:cubicBezTo>
                    <a:pt x="839720" y="16143"/>
                    <a:pt x="835064" y="20799"/>
                    <a:pt x="829321" y="20799"/>
                  </a:cubicBezTo>
                  <a:lnTo>
                    <a:pt x="10399" y="20799"/>
                  </a:lnTo>
                  <a:cubicBezTo>
                    <a:pt x="4656" y="20799"/>
                    <a:pt x="0" y="16143"/>
                    <a:pt x="0" y="10399"/>
                  </a:cubicBezTo>
                  <a:lnTo>
                    <a:pt x="0" y="10399"/>
                  </a:lnTo>
                  <a:cubicBezTo>
                    <a:pt x="0" y="4656"/>
                    <a:pt x="4656" y="0"/>
                    <a:pt x="103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39720" cy="7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08756" y="6890721"/>
            <a:ext cx="4470489" cy="1439897"/>
            <a:chOff x="0" y="0"/>
            <a:chExt cx="1177413" cy="3792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7413" cy="379232"/>
            </a:xfrm>
            <a:custGeom>
              <a:avLst/>
              <a:gdLst/>
              <a:ahLst/>
              <a:cxnLst/>
              <a:rect r="r" b="b" t="t" l="l"/>
              <a:pathLst>
                <a:path h="379232" w="1177413">
                  <a:moveTo>
                    <a:pt x="43295" y="0"/>
                  </a:moveTo>
                  <a:lnTo>
                    <a:pt x="1134118" y="0"/>
                  </a:lnTo>
                  <a:cubicBezTo>
                    <a:pt x="1145601" y="0"/>
                    <a:pt x="1156613" y="4561"/>
                    <a:pt x="1164732" y="12681"/>
                  </a:cubicBezTo>
                  <a:cubicBezTo>
                    <a:pt x="1172851" y="20800"/>
                    <a:pt x="1177413" y="31812"/>
                    <a:pt x="1177413" y="43295"/>
                  </a:cubicBezTo>
                  <a:lnTo>
                    <a:pt x="1177413" y="335938"/>
                  </a:lnTo>
                  <a:cubicBezTo>
                    <a:pt x="1177413" y="347420"/>
                    <a:pt x="1172851" y="358432"/>
                    <a:pt x="1164732" y="366551"/>
                  </a:cubicBezTo>
                  <a:cubicBezTo>
                    <a:pt x="1156613" y="374671"/>
                    <a:pt x="1145601" y="379232"/>
                    <a:pt x="1134118" y="379232"/>
                  </a:cubicBezTo>
                  <a:lnTo>
                    <a:pt x="43295" y="379232"/>
                  </a:lnTo>
                  <a:cubicBezTo>
                    <a:pt x="31812" y="379232"/>
                    <a:pt x="20800" y="374671"/>
                    <a:pt x="12681" y="366551"/>
                  </a:cubicBezTo>
                  <a:cubicBezTo>
                    <a:pt x="4561" y="358432"/>
                    <a:pt x="0" y="347420"/>
                    <a:pt x="0" y="335938"/>
                  </a:cubicBezTo>
                  <a:lnTo>
                    <a:pt x="0" y="43295"/>
                  </a:lnTo>
                  <a:cubicBezTo>
                    <a:pt x="0" y="31812"/>
                    <a:pt x="4561" y="20800"/>
                    <a:pt x="12681" y="12681"/>
                  </a:cubicBezTo>
                  <a:cubicBezTo>
                    <a:pt x="20800" y="4561"/>
                    <a:pt x="31812" y="0"/>
                    <a:pt x="4329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77413" cy="43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08756" y="8598460"/>
            <a:ext cx="4470489" cy="1439897"/>
            <a:chOff x="0" y="0"/>
            <a:chExt cx="1177413" cy="379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7413" cy="379232"/>
            </a:xfrm>
            <a:custGeom>
              <a:avLst/>
              <a:gdLst/>
              <a:ahLst/>
              <a:cxnLst/>
              <a:rect r="r" b="b" t="t" l="l"/>
              <a:pathLst>
                <a:path h="379232" w="1177413">
                  <a:moveTo>
                    <a:pt x="43295" y="0"/>
                  </a:moveTo>
                  <a:lnTo>
                    <a:pt x="1134118" y="0"/>
                  </a:lnTo>
                  <a:cubicBezTo>
                    <a:pt x="1145601" y="0"/>
                    <a:pt x="1156613" y="4561"/>
                    <a:pt x="1164732" y="12681"/>
                  </a:cubicBezTo>
                  <a:cubicBezTo>
                    <a:pt x="1172851" y="20800"/>
                    <a:pt x="1177413" y="31812"/>
                    <a:pt x="1177413" y="43295"/>
                  </a:cubicBezTo>
                  <a:lnTo>
                    <a:pt x="1177413" y="335938"/>
                  </a:lnTo>
                  <a:cubicBezTo>
                    <a:pt x="1177413" y="347420"/>
                    <a:pt x="1172851" y="358432"/>
                    <a:pt x="1164732" y="366551"/>
                  </a:cubicBezTo>
                  <a:cubicBezTo>
                    <a:pt x="1156613" y="374671"/>
                    <a:pt x="1145601" y="379232"/>
                    <a:pt x="1134118" y="379232"/>
                  </a:cubicBezTo>
                  <a:lnTo>
                    <a:pt x="43295" y="379232"/>
                  </a:lnTo>
                  <a:cubicBezTo>
                    <a:pt x="31812" y="379232"/>
                    <a:pt x="20800" y="374671"/>
                    <a:pt x="12681" y="366551"/>
                  </a:cubicBezTo>
                  <a:cubicBezTo>
                    <a:pt x="4561" y="358432"/>
                    <a:pt x="0" y="347420"/>
                    <a:pt x="0" y="335938"/>
                  </a:cubicBezTo>
                  <a:lnTo>
                    <a:pt x="0" y="43295"/>
                  </a:lnTo>
                  <a:cubicBezTo>
                    <a:pt x="0" y="31812"/>
                    <a:pt x="4561" y="20800"/>
                    <a:pt x="12681" y="12681"/>
                  </a:cubicBezTo>
                  <a:cubicBezTo>
                    <a:pt x="20800" y="4561"/>
                    <a:pt x="31812" y="0"/>
                    <a:pt x="4329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7413" cy="43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72507" y="2180064"/>
            <a:ext cx="5500070" cy="6945315"/>
            <a:chOff x="0" y="0"/>
            <a:chExt cx="1161258" cy="1466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1258" cy="1466401"/>
            </a:xfrm>
            <a:custGeom>
              <a:avLst/>
              <a:gdLst/>
              <a:ahLst/>
              <a:cxnLst/>
              <a:rect r="r" b="b" t="t" l="l"/>
              <a:pathLst>
                <a:path h="1466401" w="1161258">
                  <a:moveTo>
                    <a:pt x="32375" y="0"/>
                  </a:moveTo>
                  <a:lnTo>
                    <a:pt x="1128884" y="0"/>
                  </a:lnTo>
                  <a:cubicBezTo>
                    <a:pt x="1137470" y="0"/>
                    <a:pt x="1145705" y="3411"/>
                    <a:pt x="1151776" y="9482"/>
                  </a:cubicBezTo>
                  <a:cubicBezTo>
                    <a:pt x="1157848" y="15554"/>
                    <a:pt x="1161258" y="23789"/>
                    <a:pt x="1161258" y="32375"/>
                  </a:cubicBezTo>
                  <a:lnTo>
                    <a:pt x="1161258" y="1434026"/>
                  </a:lnTo>
                  <a:cubicBezTo>
                    <a:pt x="1161258" y="1451906"/>
                    <a:pt x="1146764" y="1466401"/>
                    <a:pt x="1128884" y="1466401"/>
                  </a:cubicBezTo>
                  <a:lnTo>
                    <a:pt x="32375" y="1466401"/>
                  </a:lnTo>
                  <a:cubicBezTo>
                    <a:pt x="14495" y="1466401"/>
                    <a:pt x="0" y="1451906"/>
                    <a:pt x="0" y="1434026"/>
                  </a:cubicBezTo>
                  <a:lnTo>
                    <a:pt x="0" y="32375"/>
                  </a:lnTo>
                  <a:cubicBezTo>
                    <a:pt x="0" y="14495"/>
                    <a:pt x="14495" y="0"/>
                    <a:pt x="3237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" r="0" b="-4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2085" y="7931472"/>
            <a:ext cx="1540845" cy="15408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45183" y="1773710"/>
            <a:ext cx="812708" cy="81270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84994" y="2887625"/>
            <a:ext cx="2965146" cy="3479221"/>
            <a:chOff x="0" y="0"/>
            <a:chExt cx="646358" cy="7584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6358" cy="758419"/>
            </a:xfrm>
            <a:custGeom>
              <a:avLst/>
              <a:gdLst/>
              <a:ahLst/>
              <a:cxnLst/>
              <a:rect r="r" b="b" t="t" l="l"/>
              <a:pathLst>
                <a:path h="758419" w="646358">
                  <a:moveTo>
                    <a:pt x="60052" y="0"/>
                  </a:moveTo>
                  <a:lnTo>
                    <a:pt x="586305" y="0"/>
                  </a:lnTo>
                  <a:cubicBezTo>
                    <a:pt x="619471" y="0"/>
                    <a:pt x="646358" y="26886"/>
                    <a:pt x="646358" y="60052"/>
                  </a:cubicBezTo>
                  <a:lnTo>
                    <a:pt x="646358" y="698366"/>
                  </a:lnTo>
                  <a:cubicBezTo>
                    <a:pt x="646358" y="731532"/>
                    <a:pt x="619471" y="758419"/>
                    <a:pt x="586305" y="758419"/>
                  </a:cubicBezTo>
                  <a:lnTo>
                    <a:pt x="60052" y="758419"/>
                  </a:lnTo>
                  <a:cubicBezTo>
                    <a:pt x="26886" y="758419"/>
                    <a:pt x="0" y="731532"/>
                    <a:pt x="0" y="698366"/>
                  </a:cubicBezTo>
                  <a:lnTo>
                    <a:pt x="0" y="60052"/>
                  </a:lnTo>
                  <a:cubicBezTo>
                    <a:pt x="0" y="26886"/>
                    <a:pt x="26886" y="0"/>
                    <a:pt x="60052" y="0"/>
                  </a:cubicBezTo>
                  <a:close/>
                </a:path>
              </a:pathLst>
            </a:custGeom>
            <a:blipFill>
              <a:blip r:embed="rId3"/>
              <a:stretch>
                <a:fillRect l="-235" t="0" r="-23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770423" y="2254085"/>
            <a:ext cx="1540845" cy="1540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338519"/>
            <a:ext cx="10350544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0"/>
              </a:lnSpc>
            </a:pPr>
            <a:r>
              <a:rPr lang="en-US" sz="74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Introducción a SSH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40619" y="7207444"/>
            <a:ext cx="2167874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b="true" sz="1950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Acceso Seguro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40619" y="7674734"/>
            <a:ext cx="3322900" cy="21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sz="12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Comunicación cifrada de extremo a extremo.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40619" y="8773945"/>
            <a:ext cx="2167874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</a:pPr>
            <a:r>
              <a:rPr lang="en-US" b="true" sz="1950">
                <a:solidFill>
                  <a:srgbClr val="E739A2"/>
                </a:solidFill>
                <a:latin typeface="DM Sans Bold"/>
                <a:ea typeface="DM Sans Bold"/>
                <a:cs typeface="DM Sans Bold"/>
                <a:sym typeface="DM Sans Bold"/>
              </a:rPr>
              <a:t>ADMINISTRACIÓN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40619" y="9241235"/>
            <a:ext cx="3776772" cy="43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sz="12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Gestión remota de servidores; sustituye a Telnet y FTP inseguro.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0243" y="1819611"/>
            <a:ext cx="8268250" cy="116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9"/>
              </a:lnSpc>
            </a:pPr>
            <a:r>
              <a:rPr lang="en-US" sz="22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SSH (Secure Shell) es un protocolo de red que permite el acceso remoto seguro a sistemas y servidores mediante comunicación cifrada.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0243" y="3909347"/>
            <a:ext cx="8268250" cy="155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9"/>
              </a:lnSpc>
            </a:pPr>
            <a:r>
              <a:rPr lang="en-US" sz="22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utiliza mucho para administrar servidores, normalmente mediante una terminal. SSH fue creado como una alternativa segura a protocolos como Telnet, que no cifraban las comunicaciones.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72101" y="5652722"/>
            <a:ext cx="4731871" cy="2770369"/>
          </a:xfrm>
          <a:custGeom>
            <a:avLst/>
            <a:gdLst/>
            <a:ahLst/>
            <a:cxnLst/>
            <a:rect r="r" b="b" t="t" l="l"/>
            <a:pathLst>
              <a:path h="2770369" w="4731871">
                <a:moveTo>
                  <a:pt x="0" y="0"/>
                </a:moveTo>
                <a:lnTo>
                  <a:pt x="4731871" y="0"/>
                </a:lnTo>
                <a:lnTo>
                  <a:pt x="4731871" y="2770369"/>
                </a:lnTo>
                <a:lnTo>
                  <a:pt x="0" y="2770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0" y="9048265"/>
            <a:ext cx="6809878" cy="77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continuacuón vamos a ver la forma de instalar y conectarse a SSH.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334">
                <a:alpha val="100000"/>
              </a:srgbClr>
            </a:gs>
            <a:gs pos="100000">
              <a:srgbClr val="141C6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151" y="3337024"/>
            <a:ext cx="6493683" cy="3629050"/>
            <a:chOff x="0" y="0"/>
            <a:chExt cx="8658244" cy="483873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865824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9"/>
                </a:lnSpc>
                <a:spcBef>
                  <a:spcPct val="0"/>
                </a:spcBef>
              </a:pPr>
              <a:r>
                <a:rPr lang="en-US" sz="34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Instalación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72846" y="1100216"/>
              <a:ext cx="7712552" cy="3738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Para instalar SSH en un servidor linux basta con poner el siguiente comando:</a:t>
              </a:r>
            </a:p>
            <a:p>
              <a:pPr algn="ctr">
                <a:lnSpc>
                  <a:spcPts val="2823"/>
                </a:lnSpc>
              </a:pPr>
            </a:p>
            <a:p>
              <a:pPr algn="ctr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sudo apt-get install openssh-server</a:t>
              </a:r>
            </a:p>
            <a:p>
              <a:pPr algn="ctr">
                <a:lnSpc>
                  <a:spcPts val="2823"/>
                </a:lnSpc>
              </a:pPr>
            </a:p>
            <a:p>
              <a:pPr algn="ctr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 este comando ya tendremos un servidor SSH en nuestro equipo (a falta de configurarlo)</a:t>
              </a:r>
            </a:p>
            <a:p>
              <a:pPr algn="ctr" marL="0" indent="0" lvl="0">
                <a:lnSpc>
                  <a:spcPts val="282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9258300"/>
            <a:ext cx="18288000" cy="0"/>
          </a:xfrm>
          <a:prstGeom prst="line">
            <a:avLst/>
          </a:prstGeom>
          <a:ln cap="flat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483453" y="3337024"/>
            <a:ext cx="6493683" cy="3214556"/>
            <a:chOff x="0" y="0"/>
            <a:chExt cx="8658244" cy="428607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865824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9"/>
                </a:lnSpc>
                <a:spcBef>
                  <a:spcPct val="0"/>
                </a:spcBef>
              </a:pPr>
              <a:r>
                <a:rPr lang="en-US" sz="343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Conexión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72846" y="1017458"/>
              <a:ext cx="7712552" cy="3268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Para conectarse a un servidor SSH basta con poner en el terminal el siguiente comando:</a:t>
              </a:r>
            </a:p>
            <a:p>
              <a:pPr algn="ctr">
                <a:lnSpc>
                  <a:spcPts val="2823"/>
                </a:lnSpc>
              </a:pPr>
            </a:p>
            <a:p>
              <a:pPr algn="ctr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ssh usuario@servidor</a:t>
              </a:r>
            </a:p>
            <a:p>
              <a:pPr algn="ctr">
                <a:lnSpc>
                  <a:spcPts val="2823"/>
                </a:lnSpc>
              </a:pPr>
            </a:p>
            <a:p>
              <a:pPr algn="ctr" marL="0" indent="0" lvl="0">
                <a:lnSpc>
                  <a:spcPts val="2823"/>
                </a:lnSpc>
              </a:pPr>
              <a:r>
                <a:rPr lang="en-US" sz="201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Hay varios clientes SSH pero 2 de los más conocidos son OpenSSH y PuTTY.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-5400000">
            <a:off x="6184553" y="6300043"/>
            <a:ext cx="5926038" cy="0"/>
          </a:xfrm>
          <a:prstGeom prst="line">
            <a:avLst/>
          </a:prstGeom>
          <a:ln cap="rnd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3337024"/>
            <a:ext cx="18288000" cy="0"/>
          </a:xfrm>
          <a:prstGeom prst="line">
            <a:avLst/>
          </a:prstGeom>
          <a:ln cap="flat" w="9525">
            <a:solidFill>
              <a:srgbClr val="0E10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1106775" y="8151525"/>
            <a:ext cx="2213550" cy="22135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0322" y="-215300"/>
            <a:ext cx="1540845" cy="154084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7266444" y="34350"/>
            <a:ext cx="2213550" cy="22135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06714" y="9516577"/>
            <a:ext cx="1540845" cy="154084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10744" y="7022965"/>
            <a:ext cx="6154358" cy="2701079"/>
          </a:xfrm>
          <a:custGeom>
            <a:avLst/>
            <a:gdLst/>
            <a:ahLst/>
            <a:cxnLst/>
            <a:rect r="r" b="b" t="t" l="l"/>
            <a:pathLst>
              <a:path h="2701079" w="6154358">
                <a:moveTo>
                  <a:pt x="0" y="0"/>
                </a:moveTo>
                <a:lnTo>
                  <a:pt x="6154358" y="0"/>
                </a:lnTo>
                <a:lnTo>
                  <a:pt x="6154358" y="2701079"/>
                </a:lnTo>
                <a:lnTo>
                  <a:pt x="0" y="2701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331747" y="6761594"/>
            <a:ext cx="974175" cy="97417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688035" y="7001031"/>
            <a:ext cx="4084520" cy="2723013"/>
          </a:xfrm>
          <a:custGeom>
            <a:avLst/>
            <a:gdLst/>
            <a:ahLst/>
            <a:cxnLst/>
            <a:rect r="r" b="b" t="t" l="l"/>
            <a:pathLst>
              <a:path h="2723013" w="4084520">
                <a:moveTo>
                  <a:pt x="0" y="0"/>
                </a:moveTo>
                <a:lnTo>
                  <a:pt x="4084520" y="0"/>
                </a:lnTo>
                <a:lnTo>
                  <a:pt x="4084520" y="2723013"/>
                </a:lnTo>
                <a:lnTo>
                  <a:pt x="0" y="2723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43146" y="1028700"/>
            <a:ext cx="1309509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0"/>
              </a:lnSpc>
            </a:pPr>
            <a:r>
              <a:rPr lang="en-US" sz="74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Instalación y conexión</a:t>
            </a:r>
            <a:r>
              <a:rPr lang="en-US" sz="74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SSH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95716" y="2076450"/>
            <a:ext cx="9789954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SSH utiliza habitualmente el puerto 22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23465" y="2084952"/>
            <a:ext cx="7527010" cy="2320056"/>
            <a:chOff x="0" y="0"/>
            <a:chExt cx="1982422" cy="611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82422" cy="611043"/>
            </a:xfrm>
            <a:custGeom>
              <a:avLst/>
              <a:gdLst/>
              <a:ahLst/>
              <a:cxnLst/>
              <a:rect r="r" b="b" t="t" l="l"/>
              <a:pathLst>
                <a:path h="611043" w="1982422">
                  <a:moveTo>
                    <a:pt x="52456" y="0"/>
                  </a:moveTo>
                  <a:lnTo>
                    <a:pt x="1929966" y="0"/>
                  </a:lnTo>
                  <a:cubicBezTo>
                    <a:pt x="1943878" y="0"/>
                    <a:pt x="1957221" y="5527"/>
                    <a:pt x="1967058" y="15364"/>
                  </a:cubicBezTo>
                  <a:cubicBezTo>
                    <a:pt x="1976896" y="25201"/>
                    <a:pt x="1982422" y="38544"/>
                    <a:pt x="1982422" y="52456"/>
                  </a:cubicBezTo>
                  <a:lnTo>
                    <a:pt x="1982422" y="558587"/>
                  </a:lnTo>
                  <a:cubicBezTo>
                    <a:pt x="1982422" y="572500"/>
                    <a:pt x="1976896" y="585842"/>
                    <a:pt x="1967058" y="595679"/>
                  </a:cubicBezTo>
                  <a:cubicBezTo>
                    <a:pt x="1957221" y="605517"/>
                    <a:pt x="1943878" y="611043"/>
                    <a:pt x="1929966" y="611043"/>
                  </a:cubicBezTo>
                  <a:lnTo>
                    <a:pt x="52456" y="611043"/>
                  </a:lnTo>
                  <a:cubicBezTo>
                    <a:pt x="38544" y="611043"/>
                    <a:pt x="25201" y="605517"/>
                    <a:pt x="15364" y="595679"/>
                  </a:cubicBezTo>
                  <a:cubicBezTo>
                    <a:pt x="5527" y="585842"/>
                    <a:pt x="0" y="572500"/>
                    <a:pt x="0" y="558587"/>
                  </a:cubicBezTo>
                  <a:lnTo>
                    <a:pt x="0" y="52456"/>
                  </a:lnTo>
                  <a:cubicBezTo>
                    <a:pt x="0" y="38544"/>
                    <a:pt x="5527" y="25201"/>
                    <a:pt x="15364" y="15364"/>
                  </a:cubicBezTo>
                  <a:cubicBezTo>
                    <a:pt x="25201" y="5527"/>
                    <a:pt x="38544" y="0"/>
                    <a:pt x="52456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82422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3465" y="7223549"/>
            <a:ext cx="7527010" cy="2320056"/>
            <a:chOff x="0" y="0"/>
            <a:chExt cx="1982422" cy="611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2422" cy="611043"/>
            </a:xfrm>
            <a:custGeom>
              <a:avLst/>
              <a:gdLst/>
              <a:ahLst/>
              <a:cxnLst/>
              <a:rect r="r" b="b" t="t" l="l"/>
              <a:pathLst>
                <a:path h="611043" w="1982422">
                  <a:moveTo>
                    <a:pt x="52456" y="0"/>
                  </a:moveTo>
                  <a:lnTo>
                    <a:pt x="1929966" y="0"/>
                  </a:lnTo>
                  <a:cubicBezTo>
                    <a:pt x="1943878" y="0"/>
                    <a:pt x="1957221" y="5527"/>
                    <a:pt x="1967058" y="15364"/>
                  </a:cubicBezTo>
                  <a:cubicBezTo>
                    <a:pt x="1976896" y="25201"/>
                    <a:pt x="1982422" y="38544"/>
                    <a:pt x="1982422" y="52456"/>
                  </a:cubicBezTo>
                  <a:lnTo>
                    <a:pt x="1982422" y="558587"/>
                  </a:lnTo>
                  <a:cubicBezTo>
                    <a:pt x="1982422" y="572500"/>
                    <a:pt x="1976896" y="585842"/>
                    <a:pt x="1967058" y="595679"/>
                  </a:cubicBezTo>
                  <a:cubicBezTo>
                    <a:pt x="1957221" y="605517"/>
                    <a:pt x="1943878" y="611043"/>
                    <a:pt x="1929966" y="611043"/>
                  </a:cubicBezTo>
                  <a:lnTo>
                    <a:pt x="52456" y="611043"/>
                  </a:lnTo>
                  <a:cubicBezTo>
                    <a:pt x="38544" y="611043"/>
                    <a:pt x="25201" y="605517"/>
                    <a:pt x="15364" y="595679"/>
                  </a:cubicBezTo>
                  <a:cubicBezTo>
                    <a:pt x="5527" y="585842"/>
                    <a:pt x="0" y="572500"/>
                    <a:pt x="0" y="558587"/>
                  </a:cubicBezTo>
                  <a:lnTo>
                    <a:pt x="0" y="52456"/>
                  </a:lnTo>
                  <a:cubicBezTo>
                    <a:pt x="0" y="38544"/>
                    <a:pt x="5527" y="25201"/>
                    <a:pt x="15364" y="15364"/>
                  </a:cubicBezTo>
                  <a:cubicBezTo>
                    <a:pt x="25201" y="5527"/>
                    <a:pt x="38544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3846CF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82422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94024" y="2084952"/>
            <a:ext cx="4402658" cy="7173348"/>
            <a:chOff x="0" y="0"/>
            <a:chExt cx="929556" cy="15145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556" cy="1514546"/>
            </a:xfrm>
            <a:custGeom>
              <a:avLst/>
              <a:gdLst/>
              <a:ahLst/>
              <a:cxnLst/>
              <a:rect r="r" b="b" t="t" l="l"/>
              <a:pathLst>
                <a:path h="1514546" w="929556">
                  <a:moveTo>
                    <a:pt x="40445" y="0"/>
                  </a:moveTo>
                  <a:lnTo>
                    <a:pt x="889111" y="0"/>
                  </a:lnTo>
                  <a:cubicBezTo>
                    <a:pt x="911448" y="0"/>
                    <a:pt x="929556" y="18108"/>
                    <a:pt x="929556" y="40445"/>
                  </a:cubicBezTo>
                  <a:lnTo>
                    <a:pt x="929556" y="1474102"/>
                  </a:lnTo>
                  <a:cubicBezTo>
                    <a:pt x="929556" y="1496439"/>
                    <a:pt x="911448" y="1514546"/>
                    <a:pt x="889111" y="1514546"/>
                  </a:cubicBezTo>
                  <a:lnTo>
                    <a:pt x="40445" y="1514546"/>
                  </a:lnTo>
                  <a:cubicBezTo>
                    <a:pt x="29718" y="1514546"/>
                    <a:pt x="19431" y="1510285"/>
                    <a:pt x="11846" y="1502700"/>
                  </a:cubicBezTo>
                  <a:cubicBezTo>
                    <a:pt x="4261" y="1495116"/>
                    <a:pt x="0" y="1484828"/>
                    <a:pt x="0" y="1474102"/>
                  </a:cubicBezTo>
                  <a:lnTo>
                    <a:pt x="0" y="40445"/>
                  </a:lnTo>
                  <a:cubicBezTo>
                    <a:pt x="0" y="29718"/>
                    <a:pt x="4261" y="19431"/>
                    <a:pt x="11846" y="11846"/>
                  </a:cubicBezTo>
                  <a:cubicBezTo>
                    <a:pt x="19431" y="4261"/>
                    <a:pt x="29718" y="0"/>
                    <a:pt x="40445" y="0"/>
                  </a:cubicBezTo>
                  <a:close/>
                </a:path>
              </a:pathLst>
            </a:custGeom>
            <a:blipFill>
              <a:blip r:embed="rId3"/>
              <a:stretch>
                <a:fillRect l="-610" t="0" r="-61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90027" y="2689200"/>
            <a:ext cx="2246669" cy="4200334"/>
            <a:chOff x="0" y="0"/>
            <a:chExt cx="474351" cy="886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4351" cy="886839"/>
            </a:xfrm>
            <a:custGeom>
              <a:avLst/>
              <a:gdLst/>
              <a:ahLst/>
              <a:cxnLst/>
              <a:rect r="r" b="b" t="t" l="l"/>
              <a:pathLst>
                <a:path h="886839" w="474351">
                  <a:moveTo>
                    <a:pt x="79257" y="0"/>
                  </a:moveTo>
                  <a:lnTo>
                    <a:pt x="395094" y="0"/>
                  </a:lnTo>
                  <a:cubicBezTo>
                    <a:pt x="416114" y="0"/>
                    <a:pt x="436274" y="8350"/>
                    <a:pt x="451137" y="23214"/>
                  </a:cubicBezTo>
                  <a:cubicBezTo>
                    <a:pt x="466001" y="38077"/>
                    <a:pt x="474351" y="58237"/>
                    <a:pt x="474351" y="79257"/>
                  </a:cubicBezTo>
                  <a:lnTo>
                    <a:pt x="474351" y="807582"/>
                  </a:lnTo>
                  <a:cubicBezTo>
                    <a:pt x="474351" y="851354"/>
                    <a:pt x="438866" y="886839"/>
                    <a:pt x="395094" y="886839"/>
                  </a:cubicBezTo>
                  <a:lnTo>
                    <a:pt x="79257" y="886839"/>
                  </a:lnTo>
                  <a:cubicBezTo>
                    <a:pt x="35485" y="886839"/>
                    <a:pt x="0" y="851354"/>
                    <a:pt x="0" y="807582"/>
                  </a:cubicBezTo>
                  <a:lnTo>
                    <a:pt x="0" y="79257"/>
                  </a:lnTo>
                  <a:cubicBezTo>
                    <a:pt x="0" y="35485"/>
                    <a:pt x="35485" y="0"/>
                    <a:pt x="792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" r="0" b="-10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0962" y="2689200"/>
            <a:ext cx="2505734" cy="4159402"/>
            <a:chOff x="0" y="0"/>
            <a:chExt cx="540984" cy="8980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0984" cy="898008"/>
            </a:xfrm>
            <a:custGeom>
              <a:avLst/>
              <a:gdLst/>
              <a:ahLst/>
              <a:cxnLst/>
              <a:rect r="r" b="b" t="t" l="l"/>
              <a:pathLst>
                <a:path h="898008" w="540984">
                  <a:moveTo>
                    <a:pt x="71063" y="0"/>
                  </a:moveTo>
                  <a:lnTo>
                    <a:pt x="469921" y="0"/>
                  </a:lnTo>
                  <a:cubicBezTo>
                    <a:pt x="509168" y="0"/>
                    <a:pt x="540984" y="31816"/>
                    <a:pt x="540984" y="71063"/>
                  </a:cubicBezTo>
                  <a:lnTo>
                    <a:pt x="540984" y="826945"/>
                  </a:lnTo>
                  <a:cubicBezTo>
                    <a:pt x="540984" y="866192"/>
                    <a:pt x="509168" y="898008"/>
                    <a:pt x="469921" y="898008"/>
                  </a:cubicBezTo>
                  <a:lnTo>
                    <a:pt x="71063" y="898008"/>
                  </a:lnTo>
                  <a:cubicBezTo>
                    <a:pt x="31816" y="898008"/>
                    <a:pt x="0" y="866192"/>
                    <a:pt x="0" y="826945"/>
                  </a:cubicBezTo>
                  <a:lnTo>
                    <a:pt x="0" y="71063"/>
                  </a:lnTo>
                  <a:cubicBezTo>
                    <a:pt x="0" y="31816"/>
                    <a:pt x="31816" y="0"/>
                    <a:pt x="7106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7" r="0" b="-9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823523" y="6517346"/>
            <a:ext cx="2213550" cy="22135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5761" y="2084952"/>
            <a:ext cx="812708" cy="81270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40983" y="8730896"/>
            <a:ext cx="812708" cy="81270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23465" y="4654251"/>
            <a:ext cx="7527010" cy="2320056"/>
            <a:chOff x="0" y="0"/>
            <a:chExt cx="1982422" cy="611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82422" cy="611043"/>
            </a:xfrm>
            <a:custGeom>
              <a:avLst/>
              <a:gdLst/>
              <a:ahLst/>
              <a:cxnLst/>
              <a:rect r="r" b="b" t="t" l="l"/>
              <a:pathLst>
                <a:path h="611043" w="1982422">
                  <a:moveTo>
                    <a:pt x="52456" y="0"/>
                  </a:moveTo>
                  <a:lnTo>
                    <a:pt x="1929966" y="0"/>
                  </a:lnTo>
                  <a:cubicBezTo>
                    <a:pt x="1943878" y="0"/>
                    <a:pt x="1957221" y="5527"/>
                    <a:pt x="1967058" y="15364"/>
                  </a:cubicBezTo>
                  <a:cubicBezTo>
                    <a:pt x="1976896" y="25201"/>
                    <a:pt x="1982422" y="38544"/>
                    <a:pt x="1982422" y="52456"/>
                  </a:cubicBezTo>
                  <a:lnTo>
                    <a:pt x="1982422" y="558587"/>
                  </a:lnTo>
                  <a:cubicBezTo>
                    <a:pt x="1982422" y="572500"/>
                    <a:pt x="1976896" y="585842"/>
                    <a:pt x="1967058" y="595679"/>
                  </a:cubicBezTo>
                  <a:cubicBezTo>
                    <a:pt x="1957221" y="605517"/>
                    <a:pt x="1943878" y="611043"/>
                    <a:pt x="1929966" y="611043"/>
                  </a:cubicBezTo>
                  <a:lnTo>
                    <a:pt x="52456" y="611043"/>
                  </a:lnTo>
                  <a:cubicBezTo>
                    <a:pt x="38544" y="611043"/>
                    <a:pt x="25201" y="605517"/>
                    <a:pt x="15364" y="595679"/>
                  </a:cubicBezTo>
                  <a:cubicBezTo>
                    <a:pt x="5527" y="585842"/>
                    <a:pt x="0" y="572500"/>
                    <a:pt x="0" y="558587"/>
                  </a:cubicBezTo>
                  <a:lnTo>
                    <a:pt x="0" y="52456"/>
                  </a:lnTo>
                  <a:cubicBezTo>
                    <a:pt x="0" y="38544"/>
                    <a:pt x="5527" y="25201"/>
                    <a:pt x="15364" y="15364"/>
                  </a:cubicBezTo>
                  <a:cubicBezTo>
                    <a:pt x="25201" y="5527"/>
                    <a:pt x="38544" y="0"/>
                    <a:pt x="52456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982422" cy="668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2187758" y="7580556"/>
            <a:ext cx="998425" cy="998425"/>
          </a:xfrm>
          <a:custGeom>
            <a:avLst/>
            <a:gdLst/>
            <a:ahLst/>
            <a:cxnLst/>
            <a:rect r="r" b="b" t="t" l="l"/>
            <a:pathLst>
              <a:path h="998425" w="998425">
                <a:moveTo>
                  <a:pt x="0" y="0"/>
                </a:moveTo>
                <a:lnTo>
                  <a:pt x="998425" y="0"/>
                </a:lnTo>
                <a:lnTo>
                  <a:pt x="998425" y="998425"/>
                </a:lnTo>
                <a:lnTo>
                  <a:pt x="0" y="998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602114" y="8062135"/>
            <a:ext cx="1196165" cy="1196165"/>
          </a:xfrm>
          <a:custGeom>
            <a:avLst/>
            <a:gdLst/>
            <a:ahLst/>
            <a:cxnLst/>
            <a:rect r="r" b="b" t="t" l="l"/>
            <a:pathLst>
              <a:path h="1196165" w="1196165">
                <a:moveTo>
                  <a:pt x="0" y="0"/>
                </a:moveTo>
                <a:lnTo>
                  <a:pt x="1196165" y="0"/>
                </a:lnTo>
                <a:lnTo>
                  <a:pt x="1196165" y="1196165"/>
                </a:lnTo>
                <a:lnTo>
                  <a:pt x="0" y="1196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322565" y="346050"/>
            <a:ext cx="764287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1"/>
              </a:lnSpc>
            </a:pPr>
            <a:r>
              <a:rPr lang="en-US" sz="77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770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CP y SFTP</a:t>
            </a:r>
          </a:p>
          <a:p>
            <a:pPr algn="ctr" marL="0" indent="0" lvl="0">
              <a:lnSpc>
                <a:spcPts val="9241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267882" y="2426456"/>
            <a:ext cx="2167874" cy="4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1"/>
              </a:lnSpc>
            </a:pPr>
            <a:r>
              <a:rPr lang="en-US" b="true" sz="25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67882" y="3011436"/>
            <a:ext cx="6507305" cy="134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opia de archivos entre equipos utilizando SSH</a:t>
            </a:r>
          </a:p>
          <a:p>
            <a:pPr algn="l">
              <a:lnSpc>
                <a:spcPts val="2814"/>
              </a:lnSpc>
            </a:pPr>
          </a:p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scp archivo usuario@equipo:/ruta</a:t>
            </a:r>
          </a:p>
          <a:p>
            <a:pPr algn="l" marL="0" indent="0" lvl="0">
              <a:lnSpc>
                <a:spcPts val="2254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267882" y="7576496"/>
            <a:ext cx="2167874" cy="4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1"/>
              </a:lnSpc>
            </a:pPr>
            <a:r>
              <a:rPr lang="en-US" b="true" sz="25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67882" y="7852036"/>
            <a:ext cx="6507305" cy="140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</a:p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WinSCP</a:t>
            </a:r>
          </a:p>
          <a:p>
            <a:pPr algn="l">
              <a:lnSpc>
                <a:spcPts val="2814"/>
              </a:lnSpc>
            </a:pPr>
          </a:p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Cyberduck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67882" y="4995754"/>
            <a:ext cx="2167874" cy="4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1"/>
              </a:lnSpc>
            </a:pPr>
            <a:r>
              <a:rPr lang="en-US" b="true" sz="25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SFTP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67882" y="5580734"/>
            <a:ext cx="6726562" cy="134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Interfaz más completa</a:t>
            </a:r>
          </a:p>
          <a:p>
            <a:pPr algn="l">
              <a:lnSpc>
                <a:spcPts val="2814"/>
              </a:lnSpc>
            </a:pPr>
          </a:p>
          <a:p>
            <a:pPr algn="l" marL="434022" indent="-217011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Más funciones para gestionar las transferencias</a:t>
            </a:r>
          </a:p>
          <a:p>
            <a:pPr algn="l" marL="0" indent="0" lvl="0">
              <a:lnSpc>
                <a:spcPts val="225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41C6B">
                <a:alpha val="100000"/>
              </a:srgbClr>
            </a:gs>
            <a:gs pos="100000">
              <a:srgbClr val="07033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6681" y="2930451"/>
            <a:ext cx="7914639" cy="6088616"/>
            <a:chOff x="0" y="0"/>
            <a:chExt cx="2084514" cy="1603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4514" cy="1603586"/>
            </a:xfrm>
            <a:custGeom>
              <a:avLst/>
              <a:gdLst/>
              <a:ahLst/>
              <a:cxnLst/>
              <a:rect r="r" b="b" t="t" l="l"/>
              <a:pathLst>
                <a:path h="1603586" w="2084514">
                  <a:moveTo>
                    <a:pt x="49887" y="0"/>
                  </a:moveTo>
                  <a:lnTo>
                    <a:pt x="2034627" y="0"/>
                  </a:lnTo>
                  <a:cubicBezTo>
                    <a:pt x="2062179" y="0"/>
                    <a:pt x="2084514" y="22335"/>
                    <a:pt x="2084514" y="49887"/>
                  </a:cubicBezTo>
                  <a:lnTo>
                    <a:pt x="2084514" y="1553699"/>
                  </a:lnTo>
                  <a:cubicBezTo>
                    <a:pt x="2084514" y="1581251"/>
                    <a:pt x="2062179" y="1603586"/>
                    <a:pt x="2034627" y="1603586"/>
                  </a:cubicBezTo>
                  <a:lnTo>
                    <a:pt x="49887" y="1603586"/>
                  </a:lnTo>
                  <a:cubicBezTo>
                    <a:pt x="22335" y="1603586"/>
                    <a:pt x="0" y="1581251"/>
                    <a:pt x="0" y="1553699"/>
                  </a:cubicBezTo>
                  <a:lnTo>
                    <a:pt x="0" y="49887"/>
                  </a:lnTo>
                  <a:cubicBezTo>
                    <a:pt x="0" y="22335"/>
                    <a:pt x="22335" y="0"/>
                    <a:pt x="49887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5463F6">
                      <a:alpha val="100000"/>
                    </a:srgbClr>
                  </a:gs>
                  <a:gs pos="100000">
                    <a:srgbClr val="E83AA2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84514" cy="1660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5107" y="722985"/>
            <a:ext cx="1528016" cy="1821105"/>
          </a:xfrm>
          <a:custGeom>
            <a:avLst/>
            <a:gdLst/>
            <a:ahLst/>
            <a:cxnLst/>
            <a:rect r="r" b="b" t="t" l="l"/>
            <a:pathLst>
              <a:path h="1821105" w="1528016">
                <a:moveTo>
                  <a:pt x="0" y="0"/>
                </a:moveTo>
                <a:lnTo>
                  <a:pt x="1528016" y="0"/>
                </a:lnTo>
                <a:lnTo>
                  <a:pt x="1528016" y="1821105"/>
                </a:lnTo>
                <a:lnTo>
                  <a:pt x="0" y="182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93485" y="6460669"/>
            <a:ext cx="2200699" cy="2210612"/>
          </a:xfrm>
          <a:custGeom>
            <a:avLst/>
            <a:gdLst/>
            <a:ahLst/>
            <a:cxnLst/>
            <a:rect r="r" b="b" t="t" l="l"/>
            <a:pathLst>
              <a:path h="2210612" w="2200699">
                <a:moveTo>
                  <a:pt x="0" y="0"/>
                </a:moveTo>
                <a:lnTo>
                  <a:pt x="2200699" y="0"/>
                </a:lnTo>
                <a:lnTo>
                  <a:pt x="2200699" y="2210613"/>
                </a:lnTo>
                <a:lnTo>
                  <a:pt x="0" y="2210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32014" y="3435657"/>
            <a:ext cx="2089306" cy="1705396"/>
          </a:xfrm>
          <a:custGeom>
            <a:avLst/>
            <a:gdLst/>
            <a:ahLst/>
            <a:cxnLst/>
            <a:rect r="r" b="b" t="t" l="l"/>
            <a:pathLst>
              <a:path h="1705396" w="2089306">
                <a:moveTo>
                  <a:pt x="0" y="0"/>
                </a:moveTo>
                <a:lnTo>
                  <a:pt x="2089307" y="0"/>
                </a:lnTo>
                <a:lnTo>
                  <a:pt x="2089307" y="1705396"/>
                </a:lnTo>
                <a:lnTo>
                  <a:pt x="0" y="1705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53614" y="1028700"/>
            <a:ext cx="591721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b="true" sz="7994">
                <a:gradFill>
                  <a:gsLst>
                    <a:gs pos="0">
                      <a:srgbClr val="5463F6">
                        <a:alpha val="100000"/>
                      </a:srgbClr>
                    </a:gs>
                    <a:gs pos="100000">
                      <a:srgbClr val="E83AA2">
                        <a:alpha val="100000"/>
                      </a:srgbClr>
                    </a:gs>
                  </a:gsLst>
                  <a:lin ang="5400000"/>
                </a:gradFill>
                <a:latin typeface="DM Sans Bold"/>
                <a:ea typeface="DM Sans Bold"/>
                <a:cs typeface="DM Sans Bold"/>
                <a:sym typeface="DM Sans Bold"/>
              </a:rPr>
              <a:t>Conclusión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21995" y="3397557"/>
            <a:ext cx="4844009" cy="245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HTTP permite la transferencia de hipertexto entre clientes y servidores web. FTP facilita la transferencia de archivos para el despliegue y mantenimiento. SSH garantiza el acceso remoto seguro mediante comunicación cifrada.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1995" y="6422569"/>
            <a:ext cx="4844009" cy="174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Estos tres protocolos son esenciales en el ciclo de vida del despliegue de aplicaciones web. Dominarlos es clave para cualquier profesional del sector. ¡Gracias por su atención!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17266444" y="34350"/>
            <a:ext cx="2213550" cy="22135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12145" y="4310987"/>
            <a:ext cx="1540845" cy="154084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92269" y="9799913"/>
            <a:ext cx="974175" cy="9741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63F6">
                    <a:alpha val="100000"/>
                  </a:srgbClr>
                </a:gs>
                <a:gs pos="100000">
                  <a:srgbClr val="E83AA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DAHXQfVDEtM</dc:identifier>
  <dcterms:modified xsi:type="dcterms:W3CDTF">2011-08-01T06:04:30Z</dcterms:modified>
  <cp:revision>1</cp:revision>
  <dc:title>HTTP, FTP, SSH</dc:title>
</cp:coreProperties>
</file>